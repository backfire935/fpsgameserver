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5" r:id="rId10"/>
    <p:sldId id="266" r:id="rId11"/>
    <p:sldId id="268" r:id="rId12"/>
    <p:sldId id="267" r:id="rId1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1710" y="-28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pPr/>
              <a:t>2020/4/14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pPr/>
              <a:t>2020/4/14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714348" y="714356"/>
            <a:ext cx="7529538" cy="512757"/>
          </a:xfrm>
        </p:spPr>
        <p:txBody>
          <a:bodyPr>
            <a:normAutofit fontScale="90000"/>
          </a:bodyPr>
          <a:lstStyle/>
          <a:p>
            <a:r>
              <a:rPr lang="en-US" altLang="zh-CN" dirty="0" smtClean="0"/>
              <a:t>Windows IOCP</a:t>
            </a:r>
            <a:r>
              <a:rPr lang="zh-CN" altLang="en-US" dirty="0" smtClean="0"/>
              <a:t>服务器</a:t>
            </a:r>
            <a:r>
              <a:rPr lang="en-US" altLang="zh-CN" dirty="0" smtClean="0"/>
              <a:t/>
            </a:r>
            <a:br>
              <a:rPr lang="en-US" altLang="zh-CN" dirty="0" smtClean="0"/>
            </a:br>
            <a:r>
              <a:rPr lang="en-US" altLang="zh-CN" dirty="0" smtClean="0"/>
              <a:t/>
            </a:r>
            <a:br>
              <a:rPr lang="en-US" altLang="zh-CN" dirty="0" smtClean="0"/>
            </a:br>
            <a:endParaRPr lang="zh-CN" altLang="en-US" dirty="0"/>
          </a:p>
        </p:txBody>
      </p:sp>
      <p:sp>
        <p:nvSpPr>
          <p:cNvPr id="3" name="副标题 2"/>
          <p:cNvSpPr>
            <a:spLocks noGrp="1"/>
          </p:cNvSpPr>
          <p:nvPr>
            <p:ph type="subTitle" idx="1"/>
          </p:nvPr>
        </p:nvSpPr>
        <p:spPr>
          <a:xfrm>
            <a:off x="214282" y="714356"/>
            <a:ext cx="8572560" cy="5710262"/>
          </a:xfrm>
        </p:spPr>
        <p:txBody>
          <a:bodyPr>
            <a:normAutofit fontScale="92500" lnSpcReduction="10000"/>
          </a:bodyPr>
          <a:lstStyle/>
          <a:p>
            <a:pPr algn="l"/>
            <a:r>
              <a:rPr lang="en-US" altLang="zh-CN" dirty="0" smtClean="0"/>
              <a:t>1</a:t>
            </a:r>
            <a:r>
              <a:rPr lang="zh-CN" altLang="en-US" dirty="0" smtClean="0"/>
              <a:t>、原理</a:t>
            </a:r>
            <a:endParaRPr lang="en-US" altLang="zh-CN" dirty="0" smtClean="0"/>
          </a:p>
          <a:p>
            <a:pPr algn="l"/>
            <a:r>
              <a:rPr lang="en-US" altLang="zh-CN" dirty="0" smtClean="0"/>
              <a:t>2</a:t>
            </a:r>
            <a:r>
              <a:rPr lang="zh-CN" altLang="en-US" dirty="0" smtClean="0"/>
              <a:t>、</a:t>
            </a:r>
            <a:r>
              <a:rPr lang="en-US" altLang="zh-CN" dirty="0" smtClean="0"/>
              <a:t>IO</a:t>
            </a:r>
            <a:r>
              <a:rPr lang="zh-CN" altLang="en-US" dirty="0" smtClean="0"/>
              <a:t>对象回收池</a:t>
            </a:r>
            <a:endParaRPr lang="en-US" altLang="zh-CN" dirty="0" smtClean="0"/>
          </a:p>
          <a:p>
            <a:pPr algn="l"/>
            <a:r>
              <a:rPr lang="en-US" altLang="zh-CN" dirty="0" smtClean="0"/>
              <a:t>3</a:t>
            </a:r>
            <a:r>
              <a:rPr lang="zh-CN" altLang="en-US" dirty="0" smtClean="0"/>
              <a:t>、入口处理</a:t>
            </a:r>
            <a:endParaRPr lang="en-US" altLang="zh-CN" dirty="0" smtClean="0"/>
          </a:p>
          <a:p>
            <a:pPr algn="l"/>
            <a:r>
              <a:rPr lang="en-US" altLang="zh-CN" dirty="0" smtClean="0"/>
              <a:t>4</a:t>
            </a:r>
            <a:r>
              <a:rPr lang="zh-CN" altLang="en-US" dirty="0" smtClean="0"/>
              <a:t>、工作线程</a:t>
            </a:r>
            <a:endParaRPr lang="en-US" altLang="zh-CN" dirty="0" smtClean="0"/>
          </a:p>
          <a:p>
            <a:pPr algn="l"/>
            <a:r>
              <a:rPr lang="en-US" altLang="zh-CN" dirty="0" smtClean="0"/>
              <a:t>5</a:t>
            </a:r>
            <a:r>
              <a:rPr lang="zh-CN" altLang="en-US" dirty="0" smtClean="0"/>
              <a:t>、投递</a:t>
            </a:r>
            <a:r>
              <a:rPr lang="en-US" altLang="zh-CN" dirty="0" smtClean="0"/>
              <a:t>accept</a:t>
            </a:r>
          </a:p>
          <a:p>
            <a:pPr algn="l"/>
            <a:r>
              <a:rPr lang="en-US" altLang="zh-CN" dirty="0" smtClean="0"/>
              <a:t>6</a:t>
            </a:r>
            <a:r>
              <a:rPr lang="zh-CN" altLang="en-US" dirty="0" smtClean="0"/>
              <a:t>、投递接收数据</a:t>
            </a:r>
            <a:endParaRPr lang="en-US" altLang="zh-CN" dirty="0" smtClean="0"/>
          </a:p>
          <a:p>
            <a:pPr algn="l"/>
            <a:r>
              <a:rPr lang="en-US" altLang="zh-CN" dirty="0" smtClean="0"/>
              <a:t>7</a:t>
            </a:r>
            <a:r>
              <a:rPr lang="zh-CN" altLang="en-US" dirty="0" smtClean="0"/>
              <a:t>、投递发送数据</a:t>
            </a:r>
            <a:endParaRPr lang="en-US" altLang="zh-CN" dirty="0" smtClean="0"/>
          </a:p>
          <a:p>
            <a:pPr algn="l"/>
            <a:r>
              <a:rPr lang="en-US" altLang="zh-CN" dirty="0" smtClean="0"/>
              <a:t>8</a:t>
            </a:r>
            <a:r>
              <a:rPr lang="zh-CN" altLang="en-US" dirty="0" smtClean="0"/>
              <a:t>、封包处理</a:t>
            </a:r>
            <a:endParaRPr lang="en-US" altLang="zh-CN" dirty="0" smtClean="0"/>
          </a:p>
          <a:p>
            <a:pPr algn="l"/>
            <a:r>
              <a:rPr lang="en-US" altLang="zh-CN" dirty="0" smtClean="0"/>
              <a:t>9</a:t>
            </a:r>
            <a:r>
              <a:rPr lang="zh-CN" altLang="en-US" dirty="0" smtClean="0"/>
              <a:t>、解包处理</a:t>
            </a:r>
            <a:endParaRPr lang="en-US" altLang="zh-CN" dirty="0" smtClean="0"/>
          </a:p>
          <a:p>
            <a:pPr algn="l"/>
            <a:r>
              <a:rPr lang="en-US" altLang="zh-CN" dirty="0" smtClean="0"/>
              <a:t>10</a:t>
            </a:r>
            <a:r>
              <a:rPr lang="zh-CN" altLang="en-US" dirty="0" smtClean="0"/>
              <a:t>、</a:t>
            </a:r>
            <a:r>
              <a:rPr lang="en-US" altLang="zh-CN" dirty="0" smtClean="0"/>
              <a:t>app</a:t>
            </a:r>
            <a:r>
              <a:rPr lang="zh-CN" altLang="en-US" dirty="0" smtClean="0"/>
              <a:t>管理器</a:t>
            </a:r>
            <a:endParaRPr lang="en-US" altLang="zh-CN" dirty="0" smtClean="0"/>
          </a:p>
          <a:p>
            <a:pPr algn="l"/>
            <a:r>
              <a:rPr lang="en-US" altLang="zh-CN" dirty="0" smtClean="0"/>
              <a:t>11</a:t>
            </a:r>
            <a:r>
              <a:rPr lang="zh-CN" altLang="en-US" dirty="0" smtClean="0"/>
              <a:t>、注册托管消息</a:t>
            </a:r>
            <a:endParaRPr lang="en-US" altLang="zh-CN" dirty="0" smtClean="0"/>
          </a:p>
          <a:p>
            <a:pPr algn="l"/>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2</a:t>
            </a:r>
            <a:r>
              <a:rPr lang="zh-CN" altLang="en-US" dirty="0" smtClean="0"/>
              <a:t>、</a:t>
            </a:r>
            <a:r>
              <a:rPr lang="en-US" altLang="zh-CN" dirty="0" smtClean="0"/>
              <a:t>IO</a:t>
            </a:r>
            <a:r>
              <a:rPr lang="zh-CN" altLang="en-US" dirty="0" smtClean="0"/>
              <a:t>对象回收池</a:t>
            </a:r>
            <a:r>
              <a:rPr lang="en-US" altLang="zh-CN" dirty="0" smtClean="0"/>
              <a:t/>
            </a:r>
            <a:br>
              <a:rPr lang="en-US" altLang="zh-CN" dirty="0" smtClean="0"/>
            </a:br>
            <a:endParaRPr lang="zh-CN" altLang="en-US" dirty="0"/>
          </a:p>
        </p:txBody>
      </p:sp>
      <p:sp>
        <p:nvSpPr>
          <p:cNvPr id="3" name="内容占位符 2"/>
          <p:cNvSpPr>
            <a:spLocks noGrp="1"/>
          </p:cNvSpPr>
          <p:nvPr>
            <p:ph idx="1"/>
          </p:nvPr>
        </p:nvSpPr>
        <p:spPr>
          <a:xfrm>
            <a:off x="285720" y="857232"/>
            <a:ext cx="8401080" cy="5715040"/>
          </a:xfrm>
        </p:spPr>
        <p:txBody>
          <a:bodyPr>
            <a:normAutofit/>
          </a:bodyPr>
          <a:lstStyle/>
          <a:p>
            <a:r>
              <a:rPr lang="en-US" altLang="zh-CN" sz="1800" dirty="0" smtClean="0"/>
              <a:t>1</a:t>
            </a:r>
            <a:r>
              <a:rPr lang="zh-CN" altLang="en-US" sz="1800" dirty="0" smtClean="0"/>
              <a:t>、主要用于</a:t>
            </a:r>
            <a:r>
              <a:rPr lang="en-US" altLang="zh-CN" sz="1800" dirty="0" smtClean="0"/>
              <a:t>IOCP</a:t>
            </a:r>
            <a:r>
              <a:rPr lang="zh-CN" altLang="en-US" sz="1800" dirty="0" smtClean="0"/>
              <a:t>投递专用</a:t>
            </a:r>
            <a:endParaRPr lang="en-US" altLang="zh-CN" sz="1800" dirty="0" smtClean="0"/>
          </a:p>
          <a:p>
            <a:r>
              <a:rPr lang="en-US" altLang="zh-CN" sz="1800" dirty="0" smtClean="0"/>
              <a:t>2</a:t>
            </a:r>
            <a:r>
              <a:rPr lang="zh-CN" altLang="en-US" sz="1800" dirty="0" smtClean="0"/>
              <a:t>、投递</a:t>
            </a:r>
            <a:r>
              <a:rPr lang="en-US" altLang="zh-CN" sz="1800" dirty="0" smtClean="0"/>
              <a:t>accept.</a:t>
            </a:r>
            <a:r>
              <a:rPr lang="zh-CN" altLang="en-US" sz="1800" dirty="0" smtClean="0"/>
              <a:t>通知系统我要接收一个新的连接。针对提交的请求，在它们完成之后，应用程序会收到通知，于是就可以通过自己另外的代码来处理这些数据了。当系统底层接收到连接的时候就把连接的数据存放在投递的这个数据结构里面。如果需要接收新的连接 那么就需要再次投递</a:t>
            </a:r>
            <a:r>
              <a:rPr lang="en-US" altLang="zh-CN" sz="1800" dirty="0" smtClean="0"/>
              <a:t>accept.</a:t>
            </a:r>
          </a:p>
          <a:p>
            <a:r>
              <a:rPr lang="zh-CN" altLang="en-US" sz="1800" dirty="0" smtClean="0"/>
              <a:t>步骤：</a:t>
            </a:r>
            <a:r>
              <a:rPr lang="en-US" altLang="zh-CN" sz="1800" dirty="0" smtClean="0"/>
              <a:t> accept</a:t>
            </a:r>
            <a:r>
              <a:rPr lang="zh-CN" altLang="en-US" sz="1800" dirty="0" smtClean="0"/>
              <a:t>对象回收池</a:t>
            </a:r>
            <a:r>
              <a:rPr lang="en-US" altLang="zh-CN" sz="1800" dirty="0" smtClean="0"/>
              <a:t>&gt;</a:t>
            </a:r>
            <a:r>
              <a:rPr lang="zh-CN" altLang="en-US" sz="1800" dirty="0" smtClean="0"/>
              <a:t>取出来投递</a:t>
            </a:r>
            <a:r>
              <a:rPr lang="en-US" altLang="zh-CN" sz="1800" dirty="0" smtClean="0"/>
              <a:t>&gt;</a:t>
            </a:r>
            <a:r>
              <a:rPr lang="zh-CN" altLang="en-US" sz="1800" dirty="0" smtClean="0"/>
              <a:t>放回回收池</a:t>
            </a:r>
            <a:endParaRPr lang="en-US" altLang="zh-CN" sz="1800" dirty="0" smtClean="0"/>
          </a:p>
          <a:p>
            <a:r>
              <a:rPr lang="en-US" altLang="zh-CN" sz="1800" dirty="0" smtClean="0"/>
              <a:t>3</a:t>
            </a:r>
            <a:r>
              <a:rPr lang="zh-CN" altLang="en-US" sz="1800" dirty="0" smtClean="0"/>
              <a:t>、投递</a:t>
            </a:r>
            <a:r>
              <a:rPr lang="en-US" altLang="zh-CN" sz="1800" dirty="0" err="1" smtClean="0"/>
              <a:t>recv</a:t>
            </a:r>
            <a:r>
              <a:rPr lang="zh-CN" altLang="en-US" sz="1800" dirty="0" smtClean="0"/>
              <a:t>，通知系统我要接收数据。针对提交的请求，在收到数据之后，应用程序会收到通知，并且这些数据都已经接收完毕保存在外面投递的这个数据结构里面了。如果需要再次接收数据，就需要再次投递接收数据</a:t>
            </a:r>
            <a:r>
              <a:rPr lang="en-US" altLang="zh-CN" sz="1800" dirty="0" smtClean="0"/>
              <a:t>.</a:t>
            </a:r>
          </a:p>
          <a:p>
            <a:r>
              <a:rPr lang="zh-CN" altLang="en-US" sz="1800" dirty="0" smtClean="0"/>
              <a:t>步骤：</a:t>
            </a:r>
            <a:r>
              <a:rPr lang="en-US" altLang="zh-CN" sz="1800" dirty="0" err="1" smtClean="0"/>
              <a:t>recv</a:t>
            </a:r>
            <a:r>
              <a:rPr lang="zh-CN" altLang="en-US" sz="1800" dirty="0" smtClean="0"/>
              <a:t>对象回收池</a:t>
            </a:r>
            <a:r>
              <a:rPr lang="en-US" altLang="zh-CN" sz="1800" dirty="0" smtClean="0"/>
              <a:t>&gt;</a:t>
            </a:r>
            <a:r>
              <a:rPr lang="zh-CN" altLang="en-US" sz="1800" dirty="0" smtClean="0"/>
              <a:t>取出来投递</a:t>
            </a:r>
            <a:r>
              <a:rPr lang="en-US" altLang="zh-CN" sz="1800" dirty="0" smtClean="0"/>
              <a:t>&gt;</a:t>
            </a:r>
            <a:r>
              <a:rPr lang="zh-CN" altLang="en-US" sz="1800" dirty="0" smtClean="0"/>
              <a:t>放回回收池</a:t>
            </a:r>
            <a:endParaRPr lang="en-US" altLang="zh-CN" sz="1800" dirty="0" smtClean="0"/>
          </a:p>
          <a:p>
            <a:r>
              <a:rPr lang="en-US" altLang="zh-CN" sz="1800" dirty="0" smtClean="0"/>
              <a:t>4</a:t>
            </a:r>
            <a:r>
              <a:rPr lang="zh-CN" altLang="en-US" sz="1800" dirty="0" smtClean="0"/>
              <a:t>、投递</a:t>
            </a:r>
            <a:r>
              <a:rPr lang="en-US" altLang="zh-CN" sz="1800" dirty="0" smtClean="0"/>
              <a:t>send,</a:t>
            </a:r>
            <a:r>
              <a:rPr lang="zh-CN" altLang="en-US" sz="1800" dirty="0" smtClean="0"/>
              <a:t>通知系统我要发送数据。针对提交的请求，在数据发送完毕之后，应用程序会收到通知，你的数据发送完毕。如果需要再次发送数据，当有数据可以发送的时候，就需要再次投递。</a:t>
            </a:r>
            <a:endParaRPr lang="en-US" altLang="zh-CN" sz="1800" dirty="0" smtClean="0"/>
          </a:p>
          <a:p>
            <a:r>
              <a:rPr lang="zh-CN" altLang="en-US" sz="1800" dirty="0" smtClean="0"/>
              <a:t>步骤：</a:t>
            </a:r>
            <a:r>
              <a:rPr lang="en-US" altLang="zh-CN" sz="1800" dirty="0" smtClean="0"/>
              <a:t>send</a:t>
            </a:r>
            <a:r>
              <a:rPr lang="zh-CN" altLang="en-US" sz="1800" dirty="0" smtClean="0"/>
              <a:t>对象回收池</a:t>
            </a:r>
            <a:r>
              <a:rPr lang="en-US" altLang="zh-CN" sz="1800" dirty="0" smtClean="0"/>
              <a:t>&gt;</a:t>
            </a:r>
            <a:r>
              <a:rPr lang="zh-CN" altLang="en-US" sz="1800" dirty="0" smtClean="0"/>
              <a:t>取出来投递</a:t>
            </a:r>
            <a:r>
              <a:rPr lang="en-US" altLang="zh-CN" sz="1800" dirty="0" smtClean="0"/>
              <a:t>&gt;</a:t>
            </a:r>
            <a:r>
              <a:rPr lang="zh-CN" altLang="en-US" sz="1800" dirty="0" smtClean="0"/>
              <a:t>放回回收池</a:t>
            </a:r>
            <a:endParaRPr lang="zh-CN" alt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71472" y="0"/>
            <a:ext cx="8158162" cy="571480"/>
          </a:xfrm>
        </p:spPr>
        <p:txBody>
          <a:bodyPr>
            <a:normAutofit fontScale="90000"/>
          </a:bodyPr>
          <a:lstStyle/>
          <a:p>
            <a:r>
              <a:rPr lang="en-US" altLang="zh-CN" dirty="0" smtClean="0"/>
              <a:t>3</a:t>
            </a:r>
            <a:r>
              <a:rPr lang="zh-CN" altLang="en-US" dirty="0" smtClean="0"/>
              <a:t>、</a:t>
            </a:r>
            <a:r>
              <a:rPr lang="en-US" altLang="zh-CN" dirty="0" smtClean="0"/>
              <a:t>IOCP</a:t>
            </a:r>
            <a:r>
              <a:rPr lang="zh-CN" altLang="en-US" dirty="0" smtClean="0"/>
              <a:t>封装类</a:t>
            </a:r>
            <a:endParaRPr lang="zh-CN" altLang="en-US" dirty="0"/>
          </a:p>
        </p:txBody>
      </p:sp>
      <p:sp>
        <p:nvSpPr>
          <p:cNvPr id="3" name="内容占位符 2"/>
          <p:cNvSpPr>
            <a:spLocks noGrp="1"/>
          </p:cNvSpPr>
          <p:nvPr>
            <p:ph idx="1"/>
          </p:nvPr>
        </p:nvSpPr>
        <p:spPr>
          <a:xfrm>
            <a:off x="214282" y="571480"/>
            <a:ext cx="8643998" cy="6143644"/>
          </a:xfrm>
        </p:spPr>
        <p:txBody>
          <a:bodyPr>
            <a:noAutofit/>
          </a:bodyPr>
          <a:lstStyle/>
          <a:p>
            <a:r>
              <a:rPr lang="en-US" altLang="zh-CN" sz="1000" dirty="0" smtClean="0"/>
              <a:t>1</a:t>
            </a:r>
            <a:r>
              <a:rPr lang="zh-CN" altLang="en-US" sz="1000" dirty="0" smtClean="0"/>
              <a:t>、新建</a:t>
            </a:r>
            <a:r>
              <a:rPr lang="en-US" altLang="zh-CN" sz="1000" dirty="0" err="1" smtClean="0"/>
              <a:t>TcpServer</a:t>
            </a:r>
            <a:r>
              <a:rPr lang="zh-CN" altLang="en-US" sz="1000" dirty="0" smtClean="0"/>
              <a:t>类 继承抽象类</a:t>
            </a:r>
            <a:r>
              <a:rPr lang="en-US" altLang="zh-CN" sz="1000" dirty="0" err="1" smtClean="0"/>
              <a:t>ITcpServer</a:t>
            </a:r>
            <a:endParaRPr lang="en-US" altLang="zh-CN" sz="1000" dirty="0" smtClean="0"/>
          </a:p>
          <a:p>
            <a:r>
              <a:rPr lang="en-US" altLang="zh-CN" sz="1000" dirty="0" smtClean="0"/>
              <a:t>#include &lt;</a:t>
            </a:r>
            <a:r>
              <a:rPr lang="en-US" altLang="zh-CN" sz="1000" dirty="0" err="1" smtClean="0"/>
              <a:t>mutex</a:t>
            </a:r>
            <a:r>
              <a:rPr lang="en-US" altLang="zh-CN" sz="1000" dirty="0" smtClean="0"/>
              <a:t>&gt;</a:t>
            </a:r>
          </a:p>
          <a:p>
            <a:r>
              <a:rPr lang="en-US" altLang="zh-CN" sz="1000" dirty="0" smtClean="0"/>
              <a:t>#include &lt;thread&gt; </a:t>
            </a:r>
          </a:p>
          <a:p>
            <a:r>
              <a:rPr lang="en-US" altLang="zh-CN" sz="1000" dirty="0" smtClean="0"/>
              <a:t>#include &lt;</a:t>
            </a:r>
            <a:r>
              <a:rPr lang="en-US" altLang="zh-CN" sz="1000" dirty="0" err="1" smtClean="0"/>
              <a:t>MSWSock.h</a:t>
            </a:r>
            <a:r>
              <a:rPr lang="en-US" altLang="zh-CN" sz="1000" dirty="0" smtClean="0"/>
              <a:t>&gt;</a:t>
            </a:r>
          </a:p>
          <a:p>
            <a:r>
              <a:rPr lang="en-US" altLang="zh-CN" sz="1000" dirty="0" smtClean="0"/>
              <a:t>#</a:t>
            </a:r>
            <a:r>
              <a:rPr lang="en-US" altLang="zh-CN" sz="1000" dirty="0" err="1" smtClean="0"/>
              <a:t>pragma</a:t>
            </a:r>
            <a:r>
              <a:rPr lang="en-US" altLang="zh-CN" sz="1000" dirty="0" smtClean="0"/>
              <a:t> comment(</a:t>
            </a:r>
            <a:r>
              <a:rPr lang="en-US" altLang="zh-CN" sz="1000" dirty="0" err="1" smtClean="0"/>
              <a:t>lib,"mswsock</a:t>
            </a:r>
            <a:r>
              <a:rPr lang="en-US" altLang="zh-CN" sz="1000" dirty="0" smtClean="0"/>
              <a:t>")</a:t>
            </a:r>
          </a:p>
          <a:p>
            <a:r>
              <a:rPr lang="en-US" altLang="zh-CN" sz="1000" dirty="0" smtClean="0"/>
              <a:t>2</a:t>
            </a:r>
            <a:r>
              <a:rPr lang="zh-CN" altLang="en-US" sz="1000" dirty="0" smtClean="0"/>
              <a:t>、定义基础数据</a:t>
            </a:r>
            <a:endParaRPr lang="en-US" altLang="zh-CN" sz="1000" dirty="0" smtClean="0"/>
          </a:p>
          <a:p>
            <a:r>
              <a:rPr lang="en-US" altLang="zh-CN" sz="1000" dirty="0" smtClean="0"/>
              <a:t>s32      </a:t>
            </a:r>
            <a:r>
              <a:rPr lang="en-US" altLang="zh-CN" sz="1000" dirty="0" err="1" smtClean="0"/>
              <a:t>m_ConnectCount</a:t>
            </a:r>
            <a:r>
              <a:rPr lang="en-US" altLang="zh-CN" sz="1000" dirty="0" smtClean="0"/>
              <a:t>; //</a:t>
            </a:r>
            <a:r>
              <a:rPr lang="zh-CN" altLang="en-US" sz="1000" dirty="0" smtClean="0"/>
              <a:t>当前连接数</a:t>
            </a:r>
          </a:p>
          <a:p>
            <a:r>
              <a:rPr lang="en-US" altLang="zh-CN" sz="1000" dirty="0" smtClean="0"/>
              <a:t>s32      </a:t>
            </a:r>
            <a:r>
              <a:rPr lang="en-US" altLang="zh-CN" sz="1000" dirty="0" err="1" smtClean="0"/>
              <a:t>m_SecurityCount</a:t>
            </a:r>
            <a:r>
              <a:rPr lang="en-US" altLang="zh-CN" sz="1000" dirty="0" smtClean="0"/>
              <a:t>;//</a:t>
            </a:r>
            <a:r>
              <a:rPr lang="zh-CN" altLang="en-US" sz="1000" dirty="0" smtClean="0"/>
              <a:t>安全连接数</a:t>
            </a:r>
          </a:p>
          <a:p>
            <a:r>
              <a:rPr lang="en-US" altLang="zh-CN" sz="1000" dirty="0" err="1" smtClean="0"/>
              <a:t>bool</a:t>
            </a:r>
            <a:r>
              <a:rPr lang="en-US" altLang="zh-CN" sz="1000" dirty="0" smtClean="0"/>
              <a:t>     </a:t>
            </a:r>
            <a:r>
              <a:rPr lang="en-US" altLang="zh-CN" sz="1000" dirty="0" err="1" smtClean="0"/>
              <a:t>m_IsRunning</a:t>
            </a:r>
            <a:r>
              <a:rPr lang="en-US" altLang="zh-CN" sz="1000" dirty="0" smtClean="0"/>
              <a:t>;//</a:t>
            </a:r>
            <a:r>
              <a:rPr lang="zh-CN" altLang="en-US" sz="1000" dirty="0" smtClean="0"/>
              <a:t>服务器是否正在运行</a:t>
            </a:r>
            <a:endParaRPr lang="en-US" altLang="zh-CN" sz="1000" dirty="0" smtClean="0"/>
          </a:p>
          <a:p>
            <a:r>
              <a:rPr lang="en-US" altLang="zh-CN" sz="1000" dirty="0" smtClean="0"/>
              <a:t>s32      </a:t>
            </a:r>
            <a:r>
              <a:rPr lang="en-US" altLang="zh-CN" sz="1000" dirty="0" err="1" smtClean="0"/>
              <a:t>m_ThreadNum</a:t>
            </a:r>
            <a:r>
              <a:rPr lang="en-US" altLang="zh-CN" sz="1000" dirty="0" smtClean="0"/>
              <a:t>;//</a:t>
            </a:r>
            <a:r>
              <a:rPr lang="zh-CN" altLang="en-US" sz="1000" dirty="0" smtClean="0"/>
              <a:t>线程数量</a:t>
            </a:r>
            <a:endParaRPr lang="en-US" altLang="zh-CN" sz="1000" dirty="0" smtClean="0"/>
          </a:p>
          <a:p>
            <a:r>
              <a:rPr lang="en-US" altLang="zh-CN" sz="1000" dirty="0" smtClean="0"/>
              <a:t>SOCKET   </a:t>
            </a:r>
            <a:r>
              <a:rPr lang="en-US" altLang="zh-CN" sz="1000" dirty="0" err="1" smtClean="0"/>
              <a:t>listenfd</a:t>
            </a:r>
            <a:r>
              <a:rPr lang="en-US" altLang="zh-CN" sz="1000" dirty="0" smtClean="0"/>
              <a:t>;   //</a:t>
            </a:r>
            <a:r>
              <a:rPr lang="zh-CN" altLang="en-US" sz="1000" dirty="0" smtClean="0"/>
              <a:t>监听套接字句柄</a:t>
            </a:r>
            <a:endParaRPr lang="en-US" altLang="zh-CN" sz="1000" dirty="0" smtClean="0"/>
          </a:p>
          <a:p>
            <a:r>
              <a:rPr lang="en-US" altLang="zh-CN" sz="1000" dirty="0" smtClean="0"/>
              <a:t>3</a:t>
            </a:r>
            <a:r>
              <a:rPr lang="zh-CN" altLang="en-US" sz="1000" dirty="0" smtClean="0"/>
              <a:t>、定义</a:t>
            </a:r>
            <a:r>
              <a:rPr lang="en-US" altLang="zh-CN" sz="1000" dirty="0" smtClean="0"/>
              <a:t>IOCP</a:t>
            </a:r>
            <a:r>
              <a:rPr lang="zh-CN" altLang="en-US" sz="1000" dirty="0" smtClean="0"/>
              <a:t>数据</a:t>
            </a:r>
            <a:endParaRPr lang="en-US" altLang="zh-CN" sz="1000" dirty="0" smtClean="0"/>
          </a:p>
          <a:p>
            <a:r>
              <a:rPr lang="en-US" altLang="zh-CN" sz="1000" dirty="0" smtClean="0"/>
              <a:t>HANDLE   </a:t>
            </a:r>
            <a:r>
              <a:rPr lang="en-US" altLang="zh-CN" sz="1000" dirty="0" err="1" smtClean="0"/>
              <a:t>m_Completeport</a:t>
            </a:r>
            <a:r>
              <a:rPr lang="en-US" altLang="zh-CN" sz="1000" dirty="0" smtClean="0"/>
              <a:t>;//</a:t>
            </a:r>
            <a:r>
              <a:rPr lang="zh-CN" altLang="en-US" sz="1000" dirty="0" smtClean="0"/>
              <a:t>完成端口句柄</a:t>
            </a:r>
            <a:endParaRPr lang="en-US" altLang="zh-CN" sz="1000" dirty="0" smtClean="0"/>
          </a:p>
          <a:p>
            <a:r>
              <a:rPr lang="en-US" altLang="zh-CN" sz="1000" dirty="0" smtClean="0"/>
              <a:t>LPFN_ACCEPTEX </a:t>
            </a:r>
            <a:r>
              <a:rPr lang="en-US" altLang="zh-CN" sz="1000" dirty="0" err="1" smtClean="0"/>
              <a:t>m_AcceptEx</a:t>
            </a:r>
            <a:r>
              <a:rPr lang="en-US" altLang="zh-CN" sz="1000" dirty="0" smtClean="0"/>
              <a:t>;//</a:t>
            </a:r>
            <a:r>
              <a:rPr lang="en-US" altLang="zh-CN" sz="1000" dirty="0" err="1" smtClean="0"/>
              <a:t>AcceptEx</a:t>
            </a:r>
            <a:r>
              <a:rPr lang="zh-CN" altLang="en-US" sz="1000" dirty="0" smtClean="0"/>
              <a:t>函数地址</a:t>
            </a:r>
          </a:p>
          <a:p>
            <a:r>
              <a:rPr lang="en-US" altLang="zh-CN" sz="1000" dirty="0" smtClean="0"/>
              <a:t>LPFN_GETACCEPTEXSOCKADDRS  </a:t>
            </a:r>
            <a:r>
              <a:rPr lang="en-US" altLang="zh-CN" sz="1000" dirty="0" err="1" smtClean="0"/>
              <a:t>m_GetAcceptEx</a:t>
            </a:r>
            <a:r>
              <a:rPr lang="en-US" altLang="zh-CN" sz="1000" dirty="0" smtClean="0"/>
              <a:t>;//</a:t>
            </a:r>
            <a:r>
              <a:rPr lang="zh-CN" altLang="en-US" sz="1000" dirty="0" smtClean="0"/>
              <a:t>获取客户端信息函数地址</a:t>
            </a:r>
            <a:endParaRPr lang="en-US" altLang="zh-CN" sz="1000" dirty="0" smtClean="0"/>
          </a:p>
          <a:p>
            <a:r>
              <a:rPr lang="en-US" altLang="zh-CN" sz="1000" dirty="0" smtClean="0"/>
              <a:t>4</a:t>
            </a:r>
            <a:r>
              <a:rPr lang="zh-CN" altLang="en-US" sz="1000" dirty="0" smtClean="0"/>
              <a:t>、定义工作线程</a:t>
            </a:r>
            <a:endParaRPr lang="en-US" altLang="zh-CN" sz="1000" dirty="0" smtClean="0"/>
          </a:p>
          <a:p>
            <a:r>
              <a:rPr lang="en-US" altLang="zh-CN" sz="1000" dirty="0" smtClean="0"/>
              <a:t>std::</a:t>
            </a:r>
            <a:r>
              <a:rPr lang="en-US" altLang="zh-CN" sz="1000" dirty="0" err="1" smtClean="0"/>
              <a:t>shared_ptr</a:t>
            </a:r>
            <a:r>
              <a:rPr lang="en-US" altLang="zh-CN" sz="1000" dirty="0" smtClean="0"/>
              <a:t>&lt;std::thread&gt;   </a:t>
            </a:r>
            <a:r>
              <a:rPr lang="en-US" altLang="zh-CN" sz="1000" dirty="0" err="1" smtClean="0"/>
              <a:t>m_workthread</a:t>
            </a:r>
            <a:r>
              <a:rPr lang="en-US" altLang="zh-CN" sz="1000" dirty="0" smtClean="0"/>
              <a:t>[10];</a:t>
            </a:r>
          </a:p>
          <a:p>
            <a:r>
              <a:rPr lang="en-US" altLang="zh-CN" sz="1000" dirty="0" smtClean="0"/>
              <a:t> 5</a:t>
            </a:r>
            <a:r>
              <a:rPr lang="zh-CN" altLang="en-US" sz="1000" dirty="0" smtClean="0"/>
              <a:t>、定义互斥</a:t>
            </a:r>
          </a:p>
          <a:p>
            <a:r>
              <a:rPr lang="en-US" altLang="zh-CN" sz="1000" dirty="0" smtClean="0"/>
              <a:t>std::</a:t>
            </a:r>
            <a:r>
              <a:rPr lang="en-US" altLang="zh-CN" sz="1000" dirty="0" err="1" smtClean="0"/>
              <a:t>mutex</a:t>
            </a:r>
            <a:r>
              <a:rPr lang="en-US" altLang="zh-CN" sz="1000" dirty="0" smtClean="0"/>
              <a:t>      </a:t>
            </a:r>
            <a:r>
              <a:rPr lang="en-US" altLang="zh-CN" sz="1000" dirty="0" err="1" smtClean="0"/>
              <a:t>m_findlink_mutex</a:t>
            </a:r>
            <a:r>
              <a:rPr lang="en-US" altLang="zh-CN" sz="1000" dirty="0" smtClean="0"/>
              <a:t>;</a:t>
            </a:r>
          </a:p>
          <a:p>
            <a:r>
              <a:rPr lang="en-US" altLang="zh-CN" sz="1000" dirty="0" smtClean="0"/>
              <a:t>std::</a:t>
            </a:r>
            <a:r>
              <a:rPr lang="en-US" altLang="zh-CN" sz="1000" dirty="0" err="1" smtClean="0"/>
              <a:t>mutex</a:t>
            </a:r>
            <a:r>
              <a:rPr lang="en-US" altLang="zh-CN" sz="1000" dirty="0" smtClean="0"/>
              <a:t>       </a:t>
            </a:r>
            <a:r>
              <a:rPr lang="en-US" altLang="zh-CN" sz="1000" dirty="0" err="1" smtClean="0"/>
              <a:t>m_ConnectMutex</a:t>
            </a:r>
            <a:r>
              <a:rPr lang="en-US" altLang="zh-CN" sz="1000" dirty="0" smtClean="0"/>
              <a:t>;</a:t>
            </a:r>
          </a:p>
          <a:p>
            <a:r>
              <a:rPr lang="en-US" altLang="zh-CN" sz="1000" dirty="0" smtClean="0"/>
              <a:t>std::</a:t>
            </a:r>
            <a:r>
              <a:rPr lang="en-US" altLang="zh-CN" sz="1000" dirty="0" err="1" smtClean="0"/>
              <a:t>mutex</a:t>
            </a:r>
            <a:r>
              <a:rPr lang="en-US" altLang="zh-CN" sz="1000" dirty="0" smtClean="0"/>
              <a:t>       </a:t>
            </a:r>
            <a:r>
              <a:rPr lang="en-US" altLang="zh-CN" sz="1000" dirty="0" err="1" smtClean="0"/>
              <a:t>m_SecurityMutex</a:t>
            </a:r>
            <a:r>
              <a:rPr lang="en-US" altLang="zh-CN" sz="1000" dirty="0" smtClean="0"/>
              <a:t>;</a:t>
            </a:r>
          </a:p>
          <a:p>
            <a:r>
              <a:rPr lang="en-US" altLang="zh-CN" sz="1000" dirty="0" smtClean="0"/>
              <a:t>6</a:t>
            </a:r>
            <a:r>
              <a:rPr lang="zh-CN" altLang="en-US" sz="1000" dirty="0" smtClean="0"/>
              <a:t>、连接玩家容器</a:t>
            </a:r>
            <a:endParaRPr lang="en-US" altLang="zh-CN" sz="1000" dirty="0" smtClean="0"/>
          </a:p>
          <a:p>
            <a:r>
              <a:rPr lang="en-US" altLang="zh-CN" sz="1000" dirty="0" err="1" smtClean="0"/>
              <a:t>HashArray</a:t>
            </a:r>
            <a:r>
              <a:rPr lang="en-US" altLang="zh-CN" sz="1000" dirty="0" smtClean="0"/>
              <a:t>&lt;S_CLIENT_BASE&gt;* Linkers;//</a:t>
            </a:r>
            <a:r>
              <a:rPr lang="zh-CN" altLang="en-US" sz="1000" dirty="0" smtClean="0"/>
              <a:t>连接玩家</a:t>
            </a:r>
          </a:p>
          <a:p>
            <a:r>
              <a:rPr lang="en-US" altLang="zh-CN" sz="1000" dirty="0" err="1" smtClean="0"/>
              <a:t>HashArray</a:t>
            </a:r>
            <a:r>
              <a:rPr lang="en-US" altLang="zh-CN" sz="1000" dirty="0" smtClean="0"/>
              <a:t>&lt;S_CLIENT_BASE_INDEX&gt;* </a:t>
            </a:r>
            <a:r>
              <a:rPr lang="en-US" altLang="zh-CN" sz="1000" dirty="0" err="1" smtClean="0"/>
              <a:t>LinkersIndexs</a:t>
            </a:r>
            <a:r>
              <a:rPr lang="en-US" altLang="zh-CN" sz="1000" dirty="0" smtClean="0"/>
              <a:t>;//</a:t>
            </a:r>
            <a:r>
              <a:rPr lang="zh-CN" altLang="en-US" sz="1000" dirty="0" smtClean="0"/>
              <a:t>连接玩家索引数组</a:t>
            </a:r>
            <a:endParaRPr lang="en-US" altLang="zh-CN" sz="1000" dirty="0" smtClean="0"/>
          </a:p>
          <a:p>
            <a:r>
              <a:rPr lang="en-US" altLang="zh-CN" sz="1000" dirty="0" smtClean="0"/>
              <a:t>7</a:t>
            </a:r>
            <a:r>
              <a:rPr lang="zh-CN" altLang="en-US" sz="1000" dirty="0" smtClean="0"/>
              <a:t>、函数指针 托管</a:t>
            </a:r>
            <a:endParaRPr lang="en-US" altLang="zh-CN" sz="1000" dirty="0" smtClean="0"/>
          </a:p>
          <a:p>
            <a:r>
              <a:rPr lang="en-US" altLang="zh-CN" sz="1000" dirty="0" smtClean="0"/>
              <a:t>//5</a:t>
            </a:r>
            <a:r>
              <a:rPr lang="zh-CN" altLang="en-US" sz="1000" dirty="0" smtClean="0"/>
              <a:t>个函数指针 用于业务层通知事件</a:t>
            </a:r>
          </a:p>
          <a:p>
            <a:r>
              <a:rPr lang="en-US" altLang="zh-CN" sz="1000" dirty="0" smtClean="0"/>
              <a:t>TCPSERVERNOTIFY_EVENT      </a:t>
            </a:r>
            <a:r>
              <a:rPr lang="en-US" altLang="zh-CN" sz="1000" dirty="0" err="1" smtClean="0"/>
              <a:t>onAcceptEvent</a:t>
            </a:r>
            <a:r>
              <a:rPr lang="en-US" altLang="zh-CN" sz="1000" dirty="0" smtClean="0"/>
              <a:t>;</a:t>
            </a:r>
          </a:p>
          <a:p>
            <a:r>
              <a:rPr lang="en-US" altLang="zh-CN" sz="1000" dirty="0" smtClean="0"/>
              <a:t>TCPSERVERNOTIFY_EVENT      </a:t>
            </a:r>
            <a:r>
              <a:rPr lang="en-US" altLang="zh-CN" sz="1000" dirty="0" err="1" smtClean="0"/>
              <a:t>onSecureEvent</a:t>
            </a:r>
            <a:r>
              <a:rPr lang="en-US" altLang="zh-CN" sz="1000" dirty="0" smtClean="0"/>
              <a:t>;</a:t>
            </a:r>
          </a:p>
          <a:p>
            <a:r>
              <a:rPr lang="en-US" altLang="zh-CN" sz="1000" dirty="0" smtClean="0"/>
              <a:t>TCPSERVERNOTIFY_EVENT      </a:t>
            </a:r>
            <a:r>
              <a:rPr lang="en-US" altLang="zh-CN" sz="1000" dirty="0" err="1" smtClean="0"/>
              <a:t>onTimeOutEvent</a:t>
            </a:r>
            <a:r>
              <a:rPr lang="en-US" altLang="zh-CN" sz="1000" dirty="0" smtClean="0"/>
              <a:t>;</a:t>
            </a:r>
          </a:p>
          <a:p>
            <a:r>
              <a:rPr lang="en-US" altLang="zh-CN" sz="1000" dirty="0" smtClean="0"/>
              <a:t>TCPSERVERNOTIFY_EVENT      </a:t>
            </a:r>
            <a:r>
              <a:rPr lang="en-US" altLang="zh-CN" sz="1000" dirty="0" err="1" smtClean="0"/>
              <a:t>onDisconnectEvent</a:t>
            </a:r>
            <a:r>
              <a:rPr lang="en-US" altLang="zh-CN" sz="1000" dirty="0" smtClean="0"/>
              <a:t>;</a:t>
            </a:r>
          </a:p>
          <a:p>
            <a:r>
              <a:rPr lang="en-US" altLang="zh-CN" sz="1000" dirty="0" smtClean="0"/>
              <a:t>TCPSERVERNOTIFY_EVENT      </a:t>
            </a:r>
            <a:r>
              <a:rPr lang="en-US" altLang="zh-CN" sz="1000" dirty="0" err="1" smtClean="0"/>
              <a:t>onExceptEvent</a:t>
            </a:r>
            <a:r>
              <a:rPr lang="en-US" altLang="zh-CN" sz="1000" dirty="0" smtClean="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28596" y="0"/>
            <a:ext cx="8229600" cy="857232"/>
          </a:xfrm>
        </p:spPr>
        <p:txBody>
          <a:bodyPr/>
          <a:lstStyle/>
          <a:p>
            <a:r>
              <a:rPr lang="en-US" altLang="zh-CN" dirty="0" smtClean="0"/>
              <a:t>4</a:t>
            </a:r>
            <a:r>
              <a:rPr lang="zh-CN" altLang="en-US" dirty="0" smtClean="0"/>
              <a:t>、初始化</a:t>
            </a:r>
            <a:r>
              <a:rPr lang="en-US" altLang="zh-CN" dirty="0" smtClean="0"/>
              <a:t>socket</a:t>
            </a:r>
            <a:endParaRPr lang="zh-CN" altLang="en-US" dirty="0"/>
          </a:p>
        </p:txBody>
      </p:sp>
      <p:sp>
        <p:nvSpPr>
          <p:cNvPr id="3" name="内容占位符 2"/>
          <p:cNvSpPr>
            <a:spLocks noGrp="1"/>
          </p:cNvSpPr>
          <p:nvPr>
            <p:ph idx="1"/>
          </p:nvPr>
        </p:nvSpPr>
        <p:spPr>
          <a:xfrm>
            <a:off x="357158" y="785794"/>
            <a:ext cx="8643998" cy="5929354"/>
          </a:xfrm>
        </p:spPr>
        <p:txBody>
          <a:bodyPr>
            <a:normAutofit/>
          </a:bodyPr>
          <a:lstStyle/>
          <a:p>
            <a:r>
              <a:rPr lang="en-US" altLang="zh-CN" sz="1000" dirty="0" smtClean="0"/>
              <a:t>1</a:t>
            </a:r>
            <a:r>
              <a:rPr lang="zh-CN" altLang="en-US" sz="1000" dirty="0" smtClean="0"/>
              <a:t>、创建完成端口</a:t>
            </a:r>
            <a:endParaRPr lang="en-US" altLang="zh-CN" sz="1000" dirty="0" smtClean="0"/>
          </a:p>
          <a:p>
            <a:r>
              <a:rPr lang="en-US" sz="1000" dirty="0" smtClean="0"/>
              <a:t>HANDLE WINAPI </a:t>
            </a:r>
            <a:r>
              <a:rPr lang="en-US" sz="1000" dirty="0" err="1" smtClean="0"/>
              <a:t>CreateIoCompletionPort</a:t>
            </a:r>
            <a:r>
              <a:rPr lang="en-US" sz="1000" dirty="0" smtClean="0"/>
              <a:t>(</a:t>
            </a:r>
            <a:endParaRPr lang="zh-CN" altLang="en-US" sz="1000" dirty="0" smtClean="0"/>
          </a:p>
          <a:p>
            <a:r>
              <a:rPr lang="en-US" sz="1000" dirty="0" smtClean="0"/>
              <a:t>	__in  HANDLE </a:t>
            </a:r>
            <a:r>
              <a:rPr lang="en-US" sz="1000" dirty="0" err="1" smtClean="0"/>
              <a:t>FileHandle</a:t>
            </a:r>
            <a:r>
              <a:rPr lang="en-US" sz="1000" dirty="0" smtClean="0"/>
              <a:t>,                        // </a:t>
            </a:r>
            <a:r>
              <a:rPr lang="zh-CN" altLang="en-US" sz="1000" dirty="0" smtClean="0"/>
              <a:t>已经打开的文件句柄或者空句柄</a:t>
            </a:r>
          </a:p>
          <a:p>
            <a:r>
              <a:rPr lang="en-US" sz="1000" dirty="0" smtClean="0"/>
              <a:t>	__in  HANDLE </a:t>
            </a:r>
            <a:r>
              <a:rPr lang="en-US" sz="1000" dirty="0" err="1" smtClean="0"/>
              <a:t>ExistingCompletionPort</a:t>
            </a:r>
            <a:r>
              <a:rPr lang="en-US" sz="1000" dirty="0" smtClean="0"/>
              <a:t>,  // </a:t>
            </a:r>
            <a:r>
              <a:rPr lang="zh-CN" altLang="en-US" sz="1000" dirty="0" smtClean="0"/>
              <a:t>已经存在的</a:t>
            </a:r>
            <a:r>
              <a:rPr lang="en-US" sz="1000" dirty="0" smtClean="0"/>
              <a:t>IOCP</a:t>
            </a:r>
            <a:r>
              <a:rPr lang="zh-CN" altLang="en-US" sz="1000" dirty="0" smtClean="0"/>
              <a:t>句柄</a:t>
            </a:r>
          </a:p>
          <a:p>
            <a:r>
              <a:rPr lang="en-US" sz="1000" dirty="0" smtClean="0"/>
              <a:t>	__in  ULONG_PTR </a:t>
            </a:r>
            <a:r>
              <a:rPr lang="en-US" sz="1000" dirty="0" err="1" smtClean="0"/>
              <a:t>CompletionKey</a:t>
            </a:r>
            <a:r>
              <a:rPr lang="en-US" sz="1000" dirty="0" smtClean="0"/>
              <a:t>,         // </a:t>
            </a:r>
            <a:r>
              <a:rPr lang="zh-CN" altLang="en-US" sz="1000" dirty="0" smtClean="0"/>
              <a:t>完成键，包含了指定</a:t>
            </a:r>
            <a:r>
              <a:rPr lang="en-US" sz="1000" dirty="0" smtClean="0"/>
              <a:t>I/O</a:t>
            </a:r>
            <a:r>
              <a:rPr lang="zh-CN" altLang="en-US" sz="1000" dirty="0" smtClean="0"/>
              <a:t>完成包的指定文件</a:t>
            </a:r>
          </a:p>
          <a:p>
            <a:r>
              <a:rPr lang="en-US" sz="1000" dirty="0" smtClean="0"/>
              <a:t>	__in  DWORD </a:t>
            </a:r>
            <a:r>
              <a:rPr lang="en-US" sz="1000" dirty="0" err="1" smtClean="0"/>
              <a:t>NumberOfConcurrentThreads</a:t>
            </a:r>
            <a:r>
              <a:rPr lang="en-US" sz="1000" dirty="0" smtClean="0"/>
              <a:t> //</a:t>
            </a:r>
            <a:r>
              <a:rPr lang="zh-CN" altLang="en-US" sz="1000" dirty="0" smtClean="0"/>
              <a:t>并发同时执行最大线程数</a:t>
            </a:r>
          </a:p>
          <a:p>
            <a:r>
              <a:rPr lang="en-US" sz="1000" dirty="0" smtClean="0"/>
              <a:t>);</a:t>
            </a:r>
            <a:endParaRPr lang="zh-CN" altLang="en-US" sz="1000" dirty="0" smtClean="0"/>
          </a:p>
          <a:p>
            <a:r>
              <a:rPr lang="en-US" sz="1000" dirty="0" err="1" smtClean="0"/>
              <a:t>CreateIoCompletionPort</a:t>
            </a:r>
            <a:r>
              <a:rPr lang="zh-CN" altLang="en-US" sz="1000" dirty="0" smtClean="0"/>
              <a:t>函数有两个功能：</a:t>
            </a:r>
          </a:p>
          <a:p>
            <a:pPr lvl="0"/>
            <a:r>
              <a:rPr lang="en-US" altLang="zh-CN" sz="1000" dirty="0" smtClean="0"/>
              <a:t>A</a:t>
            </a:r>
            <a:r>
              <a:rPr lang="zh-CN" altLang="en-US" sz="1000" dirty="0" smtClean="0"/>
              <a:t>、创建一个完成端口</a:t>
            </a:r>
            <a:r>
              <a:rPr lang="en-US" sz="1000" dirty="0" smtClean="0"/>
              <a:t>  </a:t>
            </a:r>
            <a:endParaRPr lang="en-US" altLang="zh-CN" sz="1000" dirty="0" smtClean="0"/>
          </a:p>
          <a:p>
            <a:r>
              <a:rPr lang="en-US" altLang="zh-CN" sz="1000" dirty="0" err="1" smtClean="0"/>
              <a:t>m_Completeport</a:t>
            </a:r>
            <a:r>
              <a:rPr lang="en-US" altLang="zh-CN" sz="1000" dirty="0" smtClean="0"/>
              <a:t> = </a:t>
            </a:r>
            <a:r>
              <a:rPr lang="en-US" altLang="zh-CN" sz="1000" dirty="0" err="1" smtClean="0"/>
              <a:t>CreateIoCompletionPort</a:t>
            </a:r>
            <a:r>
              <a:rPr lang="en-US" altLang="zh-CN" sz="1000" dirty="0" smtClean="0"/>
              <a:t>(INVALID_HANDLE_VALUE, NULL, 0, 0);</a:t>
            </a:r>
          </a:p>
          <a:p>
            <a:pPr lvl="0"/>
            <a:r>
              <a:rPr lang="en-US" altLang="zh-CN" sz="1000" dirty="0" smtClean="0"/>
              <a:t>B</a:t>
            </a:r>
            <a:r>
              <a:rPr lang="zh-CN" altLang="en-US" sz="1000" dirty="0" smtClean="0"/>
              <a:t>、将一个句柄关联到完成端口 </a:t>
            </a:r>
          </a:p>
          <a:p>
            <a:r>
              <a:rPr lang="en-US" sz="1000" dirty="0" smtClean="0"/>
              <a:t>HANDLE  </a:t>
            </a:r>
            <a:r>
              <a:rPr lang="en-US" sz="1000" dirty="0" err="1" smtClean="0"/>
              <a:t>handle</a:t>
            </a:r>
            <a:r>
              <a:rPr lang="en-US" sz="1000" dirty="0" smtClean="0"/>
              <a:t> = </a:t>
            </a:r>
            <a:r>
              <a:rPr lang="en-US" sz="1000" dirty="0" err="1" smtClean="0"/>
              <a:t>CreateIoCompletionPort</a:t>
            </a:r>
            <a:r>
              <a:rPr lang="en-US" sz="1000" dirty="0" smtClean="0"/>
              <a:t>((HANDLE)</a:t>
            </a:r>
            <a:r>
              <a:rPr lang="en-US" sz="1000" dirty="0" err="1" smtClean="0"/>
              <a:t>socketfd</a:t>
            </a:r>
            <a:r>
              <a:rPr lang="en-US" sz="1000" dirty="0" smtClean="0"/>
              <a:t>, </a:t>
            </a:r>
            <a:r>
              <a:rPr lang="en-US" sz="1000" dirty="0" err="1" smtClean="0"/>
              <a:t>m_Completeport</a:t>
            </a:r>
            <a:r>
              <a:rPr lang="en-US" sz="1000" dirty="0" smtClean="0"/>
              <a:t>, (DWORD)SC_WAIT_ACCEPT, 0);</a:t>
            </a:r>
            <a:endParaRPr lang="zh-CN" altLang="en-US" sz="1000" dirty="0" smtClean="0"/>
          </a:p>
          <a:p>
            <a:pPr>
              <a:buNone/>
            </a:pPr>
            <a:r>
              <a:rPr lang="en-US" altLang="zh-CN" sz="1100" dirty="0" smtClean="0"/>
              <a:t>          2</a:t>
            </a:r>
            <a:r>
              <a:rPr lang="zh-CN" altLang="en-US" sz="1100" dirty="0" smtClean="0"/>
              <a:t>、加载套接字库</a:t>
            </a:r>
            <a:endParaRPr lang="en-US" altLang="zh-CN" sz="1100" dirty="0" smtClean="0"/>
          </a:p>
          <a:p>
            <a:pPr>
              <a:buNone/>
            </a:pPr>
            <a:r>
              <a:rPr lang="en-US" altLang="zh-CN" sz="1100" dirty="0" smtClean="0"/>
              <a:t>          3</a:t>
            </a:r>
            <a:r>
              <a:rPr lang="zh-CN" altLang="en-US" sz="1100" dirty="0" smtClean="0"/>
              <a:t>、把监听</a:t>
            </a:r>
            <a:r>
              <a:rPr lang="en-US" altLang="zh-CN" sz="1100" dirty="0" smtClean="0"/>
              <a:t>socket</a:t>
            </a:r>
            <a:r>
              <a:rPr lang="zh-CN" altLang="en-US" sz="1100" dirty="0" smtClean="0"/>
              <a:t>和完成端口邦定</a:t>
            </a:r>
            <a:endParaRPr lang="en-US" altLang="zh-CN" sz="1100" dirty="0" smtClean="0"/>
          </a:p>
          <a:p>
            <a:pPr>
              <a:buNone/>
            </a:pPr>
            <a:r>
              <a:rPr lang="en-US" altLang="zh-CN" sz="1100" dirty="0" smtClean="0"/>
              <a:t>          4</a:t>
            </a:r>
            <a:r>
              <a:rPr lang="zh-CN" altLang="en-US" sz="1100" dirty="0" smtClean="0"/>
              <a:t>、绑定套接字</a:t>
            </a:r>
            <a:endParaRPr lang="en-US" altLang="zh-CN" sz="1100" dirty="0" smtClean="0"/>
          </a:p>
          <a:p>
            <a:pPr>
              <a:buNone/>
            </a:pPr>
            <a:r>
              <a:rPr lang="en-US" altLang="zh-CN" sz="1100" dirty="0" smtClean="0"/>
              <a:t>          5</a:t>
            </a:r>
            <a:r>
              <a:rPr lang="zh-CN" altLang="en-US" sz="1100" dirty="0" smtClean="0"/>
              <a:t>、监听</a:t>
            </a:r>
            <a:endParaRPr lang="en-US" altLang="zh-CN" sz="1100" dirty="0" smtClean="0"/>
          </a:p>
          <a:p>
            <a:pPr>
              <a:buNone/>
            </a:pPr>
            <a:r>
              <a:rPr lang="en-US" altLang="zh-CN" sz="1100" dirty="0" smtClean="0"/>
              <a:t>          6</a:t>
            </a:r>
            <a:r>
              <a:rPr lang="zh-CN" altLang="en-US" sz="1100" dirty="0" smtClean="0"/>
              <a:t>、导出函数指针</a:t>
            </a:r>
            <a:endParaRPr lang="en-US" altLang="zh-CN" sz="1100" dirty="0" smtClean="0"/>
          </a:p>
          <a:p>
            <a:r>
              <a:rPr lang="en-US" altLang="zh-CN" sz="1100" dirty="0" err="1" smtClean="0"/>
              <a:t>WSAIoctl</a:t>
            </a:r>
            <a:r>
              <a:rPr lang="en-US" altLang="zh-CN" sz="1100" dirty="0" smtClean="0"/>
              <a:t>(//1</a:t>
            </a:r>
            <a:r>
              <a:rPr lang="zh-CN" altLang="en-US" sz="1100" b="1" dirty="0" smtClean="0"/>
              <a:t>你需要控制的套接口的句柄。</a:t>
            </a:r>
            <a:endParaRPr lang="zh-CN" altLang="en-US" sz="1100" dirty="0" smtClean="0"/>
          </a:p>
          <a:p>
            <a:pPr>
              <a:buNone/>
            </a:pPr>
            <a:r>
              <a:rPr lang="en-US" altLang="zh-CN" sz="1100" dirty="0" smtClean="0"/>
              <a:t>                            //2</a:t>
            </a:r>
            <a:r>
              <a:rPr lang="zh-CN" altLang="en-US" sz="1100" dirty="0" smtClean="0"/>
              <a:t>将进行的操作的控制代码，即你所需要操控的类型</a:t>
            </a:r>
            <a:endParaRPr lang="en-US" altLang="zh-CN" sz="1100" dirty="0" smtClean="0"/>
          </a:p>
          <a:p>
            <a:pPr>
              <a:buNone/>
            </a:pPr>
            <a:r>
              <a:rPr lang="en-US" altLang="zh-CN" sz="1100" dirty="0" smtClean="0"/>
              <a:t>                           //3</a:t>
            </a:r>
            <a:r>
              <a:rPr lang="zh-CN" altLang="en-US" sz="1100" dirty="0" smtClean="0"/>
              <a:t>输入缓冲区的地址（如果你想指定一个函数对套接字进行控制，可以是一个</a:t>
            </a:r>
            <a:r>
              <a:rPr lang="en-US" altLang="zh-CN" sz="1100" dirty="0" err="1" smtClean="0"/>
              <a:t>guid</a:t>
            </a:r>
            <a:r>
              <a:rPr lang="zh-CN" altLang="en-US" sz="1100" dirty="0" smtClean="0"/>
              <a:t>，指定这个控制函数的</a:t>
            </a:r>
            <a:r>
              <a:rPr lang="en-US" altLang="zh-CN" sz="1100" dirty="0" err="1" smtClean="0"/>
              <a:t>guid</a:t>
            </a:r>
            <a:r>
              <a:rPr lang="zh-CN" altLang="en-US" sz="1100" dirty="0" smtClean="0"/>
              <a:t>）。</a:t>
            </a:r>
            <a:endParaRPr lang="en-US" altLang="zh-CN" sz="1100" dirty="0" smtClean="0"/>
          </a:p>
          <a:p>
            <a:r>
              <a:rPr lang="en-US" altLang="zh-CN" sz="1100" dirty="0" smtClean="0"/>
              <a:t>                //4</a:t>
            </a:r>
            <a:r>
              <a:rPr lang="zh-CN" altLang="en-US" sz="1100" dirty="0" smtClean="0"/>
              <a:t>输入缓冲区的大小（这里为</a:t>
            </a:r>
            <a:r>
              <a:rPr lang="en-US" sz="1100" dirty="0" err="1" smtClean="0"/>
              <a:t>guid</a:t>
            </a:r>
            <a:r>
              <a:rPr lang="zh-CN" altLang="en-US" sz="1100" dirty="0" smtClean="0"/>
              <a:t>的大小，即</a:t>
            </a:r>
            <a:r>
              <a:rPr lang="en-US" sz="1100" dirty="0" err="1" smtClean="0"/>
              <a:t>sizeof</a:t>
            </a:r>
            <a:r>
              <a:rPr lang="en-US" sz="1100" dirty="0" smtClean="0"/>
              <a:t>(&amp;</a:t>
            </a:r>
            <a:r>
              <a:rPr lang="en-US" sz="1100" dirty="0" err="1" smtClean="0"/>
              <a:t>guid</a:t>
            </a:r>
            <a:r>
              <a:rPr lang="en-US" sz="1100" dirty="0" smtClean="0"/>
              <a:t>)）。</a:t>
            </a:r>
          </a:p>
          <a:p>
            <a:r>
              <a:rPr lang="en-US" altLang="zh-CN" sz="1100" dirty="0" smtClean="0"/>
              <a:t>                //5</a:t>
            </a:r>
            <a:r>
              <a:rPr lang="zh-CN" altLang="en-US" sz="1100" dirty="0" smtClean="0"/>
              <a:t>输出缓冲区的地址（这里即是函数指针的地址）。</a:t>
            </a:r>
            <a:endParaRPr lang="en-US" sz="1100" dirty="0" smtClean="0"/>
          </a:p>
          <a:p>
            <a:pPr>
              <a:buNone/>
            </a:pPr>
            <a:r>
              <a:rPr lang="en-US" altLang="zh-CN" sz="1100" dirty="0" smtClean="0"/>
              <a:t>                          //6</a:t>
            </a:r>
            <a:r>
              <a:rPr lang="zh-CN" altLang="en-US" sz="1100" dirty="0" smtClean="0"/>
              <a:t>输出缓冲区的大小（函数指针的大小）。</a:t>
            </a:r>
            <a:endParaRPr lang="en-US" altLang="zh-CN" sz="1100" dirty="0" smtClean="0"/>
          </a:p>
          <a:p>
            <a:pPr>
              <a:buNone/>
            </a:pPr>
            <a:r>
              <a:rPr lang="en-US" altLang="zh-CN" sz="1100" dirty="0" smtClean="0"/>
              <a:t>                           //7</a:t>
            </a:r>
            <a:r>
              <a:rPr lang="zh-CN" altLang="en-US" sz="1100" dirty="0" smtClean="0"/>
              <a:t>输出实际字节数的地址。</a:t>
            </a:r>
            <a:endParaRPr lang="en-US" altLang="zh-CN" sz="1100" dirty="0" smtClean="0"/>
          </a:p>
          <a:p>
            <a:pPr>
              <a:buNone/>
            </a:pPr>
            <a:r>
              <a:rPr lang="en-US" altLang="zh-CN" sz="1100" dirty="0" smtClean="0"/>
              <a:t>                           //8WSAOVERLAPPED</a:t>
            </a:r>
            <a:r>
              <a:rPr lang="zh-CN" altLang="en-US" sz="1100" dirty="0" smtClean="0"/>
              <a:t>结构的地址（一般为</a:t>
            </a:r>
            <a:r>
              <a:rPr lang="en-US" altLang="zh-CN" sz="1100" dirty="0" smtClean="0"/>
              <a:t>NULL</a:t>
            </a:r>
            <a:r>
              <a:rPr lang="zh-CN" altLang="en-US" sz="1100" dirty="0" smtClean="0"/>
              <a:t>）。</a:t>
            </a:r>
            <a:endParaRPr lang="en-US" altLang="zh-CN" sz="1100" dirty="0" smtClean="0"/>
          </a:p>
          <a:p>
            <a:pPr>
              <a:buNone/>
            </a:pPr>
            <a:r>
              <a:rPr lang="en-US" altLang="zh-CN" sz="1100" dirty="0" smtClean="0"/>
              <a:t>                          //9</a:t>
            </a:r>
            <a:r>
              <a:rPr lang="zh-CN" altLang="en-US" sz="1100" dirty="0" smtClean="0"/>
              <a:t>一个指向操作结束后调用的例程指针（一般为</a:t>
            </a:r>
            <a:r>
              <a:rPr lang="en-US" altLang="zh-CN" sz="1100" dirty="0" smtClean="0"/>
              <a:t>NULL</a:t>
            </a:r>
            <a:r>
              <a:rPr lang="zh-CN" altLang="en-US" sz="1100" dirty="0" smtClean="0"/>
              <a:t>）。</a:t>
            </a:r>
            <a:endParaRPr lang="en-US" altLang="zh-CN" sz="1100" dirty="0" smtClean="0"/>
          </a:p>
          <a:p>
            <a:r>
              <a:rPr lang="en-US" altLang="zh-CN" sz="1100" dirty="0" smtClean="0"/>
              <a:t>//</a:t>
            </a:r>
            <a:r>
              <a:rPr lang="en-US" altLang="zh-CN" sz="1100" dirty="0" err="1" smtClean="0"/>
              <a:t>WSAIoctl</a:t>
            </a:r>
            <a:r>
              <a:rPr lang="en-US" altLang="zh-CN" sz="1100" dirty="0" smtClean="0"/>
              <a:t>()</a:t>
            </a:r>
            <a:r>
              <a:rPr lang="zh-CN" altLang="en-US" sz="1100" dirty="0" smtClean="0"/>
              <a:t>，控制一个套接口的模式。调用成功后，</a:t>
            </a:r>
            <a:r>
              <a:rPr lang="en-US" altLang="zh-CN" sz="1100" dirty="0" err="1" smtClean="0"/>
              <a:t>WSAIoctl</a:t>
            </a:r>
            <a:r>
              <a:rPr lang="en-US" altLang="zh-CN" sz="1100" dirty="0" smtClean="0"/>
              <a:t>()</a:t>
            </a:r>
            <a:r>
              <a:rPr lang="zh-CN" altLang="en-US" sz="1100" dirty="0" smtClean="0"/>
              <a:t>函数返回</a:t>
            </a:r>
            <a:r>
              <a:rPr lang="en-US" altLang="zh-CN" sz="1100" dirty="0" smtClean="0"/>
              <a:t>0</a:t>
            </a:r>
            <a:r>
              <a:rPr lang="zh-CN" altLang="en-US" sz="1100" dirty="0" smtClean="0"/>
              <a:t>。</a:t>
            </a:r>
          </a:p>
          <a:p>
            <a:r>
              <a:rPr lang="en-US" altLang="zh-CN" sz="1100" dirty="0" smtClean="0"/>
              <a:t>//</a:t>
            </a:r>
            <a:r>
              <a:rPr lang="zh-CN" altLang="en-US" sz="1100" dirty="0" smtClean="0"/>
              <a:t>否则的话，将返回</a:t>
            </a:r>
            <a:r>
              <a:rPr lang="en-US" altLang="zh-CN" sz="1100" dirty="0" smtClean="0"/>
              <a:t>SOCKET_ERROR</a:t>
            </a:r>
            <a:r>
              <a:rPr lang="zh-CN" altLang="en-US" sz="1100" dirty="0" smtClean="0"/>
              <a:t>错误，应用程序可通过</a:t>
            </a:r>
            <a:r>
              <a:rPr lang="en-US" altLang="zh-CN" sz="1100" dirty="0" err="1" smtClean="0"/>
              <a:t>WSAGetLastError</a:t>
            </a:r>
            <a:r>
              <a:rPr lang="en-US" altLang="zh-CN" sz="1100" dirty="0" smtClean="0"/>
              <a:t>()</a:t>
            </a:r>
            <a:r>
              <a:rPr lang="zh-CN" altLang="en-US" sz="1100" dirty="0" smtClean="0"/>
              <a:t>来获取相应的错误代码。</a:t>
            </a:r>
            <a:endParaRPr lang="en-US" altLang="zh-CN" sz="1100"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5</a:t>
            </a:r>
            <a:r>
              <a:rPr lang="zh-CN" altLang="en-US" dirty="0" smtClean="0"/>
              <a:t>、</a:t>
            </a:r>
            <a:r>
              <a:rPr lang="en-US" altLang="zh-CN" dirty="0" smtClean="0"/>
              <a:t>IOCP</a:t>
            </a:r>
            <a:r>
              <a:rPr lang="zh-CN" altLang="en-US" dirty="0" smtClean="0"/>
              <a:t>工作线程</a:t>
            </a:r>
            <a:r>
              <a:rPr lang="en-US" altLang="zh-CN" dirty="0" smtClean="0"/>
              <a:t/>
            </a:r>
            <a:br>
              <a:rPr lang="en-US" altLang="zh-CN" dirty="0" smtClean="0"/>
            </a:br>
            <a:endParaRPr lang="zh-CN" altLang="en-US" dirty="0"/>
          </a:p>
        </p:txBody>
      </p:sp>
      <p:sp>
        <p:nvSpPr>
          <p:cNvPr id="3" name="内容占位符 2"/>
          <p:cNvSpPr>
            <a:spLocks noGrp="1"/>
          </p:cNvSpPr>
          <p:nvPr>
            <p:ph idx="1"/>
          </p:nvPr>
        </p:nvSpPr>
        <p:spPr>
          <a:xfrm>
            <a:off x="500034" y="928670"/>
            <a:ext cx="8186766" cy="5197493"/>
          </a:xfrm>
        </p:spPr>
        <p:txBody>
          <a:bodyPr>
            <a:normAutofit/>
          </a:bodyPr>
          <a:lstStyle/>
          <a:p>
            <a:r>
              <a:rPr lang="en-US" altLang="zh-CN" sz="1000" dirty="0" smtClean="0"/>
              <a:t>1</a:t>
            </a:r>
            <a:r>
              <a:rPr lang="zh-CN" altLang="en-US" sz="1000" dirty="0" smtClean="0"/>
              <a:t>、创建工作线程 </a:t>
            </a:r>
            <a:endParaRPr lang="en-US" altLang="zh-CN" sz="1000" dirty="0" smtClean="0"/>
          </a:p>
          <a:p>
            <a:r>
              <a:rPr lang="en-US" altLang="zh-CN" sz="1000" dirty="0" smtClean="0"/>
              <a:t>2</a:t>
            </a:r>
            <a:r>
              <a:rPr lang="zh-CN" altLang="en-US" sz="1000" dirty="0" smtClean="0"/>
              <a:t>、</a:t>
            </a:r>
            <a:r>
              <a:rPr lang="en-US" altLang="zh-CN" sz="1000" dirty="0" smtClean="0"/>
              <a:t>run</a:t>
            </a:r>
            <a:r>
              <a:rPr lang="zh-CN" altLang="en-US" sz="1000" dirty="0" smtClean="0"/>
              <a:t>线程</a:t>
            </a:r>
            <a:endParaRPr lang="en-US" altLang="zh-CN" sz="1000" dirty="0" smtClean="0"/>
          </a:p>
          <a:p>
            <a:r>
              <a:rPr lang="zh-CN" altLang="en-US" sz="1000" dirty="0" smtClean="0"/>
              <a:t>扫描完成端口中是否有</a:t>
            </a:r>
            <a:r>
              <a:rPr lang="en-US" sz="1000" dirty="0" smtClean="0"/>
              <a:t>IO</a:t>
            </a:r>
            <a:r>
              <a:rPr lang="zh-CN" altLang="en-US" sz="1000" dirty="0" smtClean="0"/>
              <a:t>操作完成，如果有的话，将已经完成了的</a:t>
            </a:r>
            <a:r>
              <a:rPr lang="en-US" sz="1000" dirty="0" smtClean="0"/>
              <a:t>IO</a:t>
            </a:r>
            <a:r>
              <a:rPr lang="zh-CN" altLang="en-US" sz="1000" dirty="0" smtClean="0"/>
              <a:t>操作取出处理，处理完成后，再投递一个</a:t>
            </a:r>
            <a:r>
              <a:rPr lang="en-US" sz="1000" dirty="0" smtClean="0"/>
              <a:t>IO</a:t>
            </a:r>
            <a:r>
              <a:rPr lang="zh-CN" altLang="en-US" sz="1000" dirty="0" smtClean="0"/>
              <a:t>请求</a:t>
            </a:r>
          </a:p>
          <a:p>
            <a:endParaRPr lang="en-US" altLang="zh-CN" sz="1000" dirty="0" smtClean="0"/>
          </a:p>
          <a:p>
            <a:r>
              <a:rPr lang="en-US" sz="1000" dirty="0" smtClean="0"/>
              <a:t>BOOL WINAPI </a:t>
            </a:r>
            <a:r>
              <a:rPr lang="en-US" sz="1000" dirty="0" err="1" smtClean="0"/>
              <a:t>GetQueuedCompletionStatus</a:t>
            </a:r>
            <a:r>
              <a:rPr lang="en-US" sz="1000" dirty="0" smtClean="0"/>
              <a:t>(</a:t>
            </a:r>
            <a:endParaRPr lang="zh-CN" altLang="en-US" sz="1000" dirty="0" smtClean="0"/>
          </a:p>
          <a:p>
            <a:r>
              <a:rPr lang="en-US" sz="1000" dirty="0" smtClean="0"/>
              <a:t>	__in          HANDLE </a:t>
            </a:r>
            <a:r>
              <a:rPr lang="en-US" sz="1000" dirty="0" err="1" smtClean="0"/>
              <a:t>CompletionPort</a:t>
            </a:r>
            <a:r>
              <a:rPr lang="en-US" sz="1000" dirty="0" smtClean="0"/>
              <a:t>,   //</a:t>
            </a:r>
            <a:r>
              <a:rPr lang="zh-CN" altLang="en-US" sz="1000" dirty="0" smtClean="0"/>
              <a:t>完成端口内核对象的句柄</a:t>
            </a:r>
          </a:p>
          <a:p>
            <a:r>
              <a:rPr lang="en-US" sz="1000" dirty="0" smtClean="0"/>
              <a:t>	__out         LPDWORD </a:t>
            </a:r>
            <a:r>
              <a:rPr lang="en-US" sz="1000" dirty="0" err="1" smtClean="0"/>
              <a:t>lpNumberOfBytes</a:t>
            </a:r>
            <a:r>
              <a:rPr lang="en-US" sz="1000" dirty="0" smtClean="0"/>
              <a:t>, //</a:t>
            </a:r>
            <a:r>
              <a:rPr lang="zh-CN" altLang="en-US" sz="1000" smtClean="0"/>
              <a:t>发送或者接收字节</a:t>
            </a:r>
            <a:r>
              <a:rPr lang="zh-CN" altLang="en-US" sz="1000" dirty="0" smtClean="0"/>
              <a:t>数</a:t>
            </a:r>
          </a:p>
          <a:p>
            <a:r>
              <a:rPr lang="en-US" sz="1000" dirty="0" smtClean="0"/>
              <a:t>	__out         PULONG_PTR </a:t>
            </a:r>
            <a:r>
              <a:rPr lang="en-US" sz="1000" dirty="0" err="1" smtClean="0"/>
              <a:t>lpCompletionKey</a:t>
            </a:r>
            <a:r>
              <a:rPr lang="en-US" sz="1000" dirty="0" smtClean="0"/>
              <a:t>, //</a:t>
            </a:r>
            <a:r>
              <a:rPr lang="zh-CN" altLang="en-US" sz="1000" dirty="0" smtClean="0"/>
              <a:t>自定义的数据结构指针</a:t>
            </a:r>
          </a:p>
          <a:p>
            <a:r>
              <a:rPr lang="en-US" sz="1000" dirty="0" smtClean="0"/>
              <a:t>	__out         LPOVERLAPPED* </a:t>
            </a:r>
            <a:r>
              <a:rPr lang="en-US" sz="1000" dirty="0" err="1" smtClean="0"/>
              <a:t>lpOverlapped</a:t>
            </a:r>
            <a:r>
              <a:rPr lang="en-US" sz="1000" dirty="0" smtClean="0"/>
              <a:t>, //</a:t>
            </a:r>
            <a:r>
              <a:rPr lang="zh-CN" altLang="en-US" sz="1000" dirty="0" smtClean="0"/>
              <a:t>重叠数据结构</a:t>
            </a:r>
          </a:p>
          <a:p>
            <a:r>
              <a:rPr lang="en-US" sz="1000" dirty="0" smtClean="0"/>
              <a:t>	__in          DWORD </a:t>
            </a:r>
            <a:r>
              <a:rPr lang="en-US" sz="1000" dirty="0" err="1" smtClean="0"/>
              <a:t>dwMilliseconds</a:t>
            </a:r>
            <a:r>
              <a:rPr lang="en-US" sz="1000" dirty="0" smtClean="0"/>
              <a:t>  //</a:t>
            </a:r>
            <a:r>
              <a:rPr lang="zh-CN" altLang="en-US" sz="1000" dirty="0" smtClean="0"/>
              <a:t>超时时间</a:t>
            </a:r>
          </a:p>
          <a:p>
            <a:r>
              <a:rPr lang="en-US" sz="1000" dirty="0" smtClean="0"/>
              <a:t>);</a:t>
            </a:r>
          </a:p>
          <a:p>
            <a:r>
              <a:rPr lang="en-US" altLang="zh-CN" sz="1000" dirty="0" smtClean="0"/>
              <a:t>3</a:t>
            </a:r>
            <a:r>
              <a:rPr lang="zh-CN" altLang="en-US" sz="1000" dirty="0" smtClean="0"/>
              <a:t>、</a:t>
            </a:r>
            <a:r>
              <a:rPr lang="en-US" sz="1000" dirty="0" smtClean="0"/>
              <a:t> </a:t>
            </a:r>
            <a:r>
              <a:rPr lang="en-US" sz="1000" dirty="0" err="1" smtClean="0"/>
              <a:t>lpOverlapped</a:t>
            </a:r>
            <a:r>
              <a:rPr lang="en-US" sz="1000" dirty="0" smtClean="0"/>
              <a:t> </a:t>
            </a:r>
            <a:r>
              <a:rPr lang="zh-CN" altLang="en-US" sz="1000" dirty="0" smtClean="0"/>
              <a:t>查找投递数据</a:t>
            </a:r>
            <a:endParaRPr lang="en-US" altLang="zh-CN" sz="1000" dirty="0" smtClean="0"/>
          </a:p>
          <a:p>
            <a:r>
              <a:rPr lang="en-US" sz="1000" dirty="0" smtClean="0"/>
              <a:t>CONTAINING_RECORD </a:t>
            </a:r>
          </a:p>
          <a:p>
            <a:r>
              <a:rPr lang="zh-CN" altLang="en-US" sz="1000" dirty="0" smtClean="0"/>
              <a:t> </a:t>
            </a:r>
            <a:r>
              <a:rPr lang="en-US" altLang="zh-CN" sz="1000" dirty="0" smtClean="0"/>
              <a:t>// </a:t>
            </a:r>
            <a:r>
              <a:rPr lang="en-US" altLang="zh-CN" sz="1000" dirty="0" err="1" smtClean="0"/>
              <a:t>addr</a:t>
            </a:r>
            <a:r>
              <a:rPr lang="en-US" altLang="zh-CN" sz="1000" dirty="0" smtClean="0"/>
              <a:t>: </a:t>
            </a:r>
            <a:r>
              <a:rPr lang="zh-CN" altLang="en-US" sz="1000" dirty="0" smtClean="0"/>
              <a:t>结构体中某个成员变量的地址</a:t>
            </a:r>
          </a:p>
          <a:p>
            <a:r>
              <a:rPr lang="zh-CN" altLang="en-US" sz="1000" dirty="0" smtClean="0"/>
              <a:t> </a:t>
            </a:r>
            <a:r>
              <a:rPr lang="en-US" altLang="zh-CN" sz="1000" dirty="0" smtClean="0"/>
              <a:t>// type: </a:t>
            </a:r>
            <a:r>
              <a:rPr lang="zh-CN" altLang="en-US" sz="1000" dirty="0" smtClean="0"/>
              <a:t>结构体的原型 </a:t>
            </a:r>
          </a:p>
          <a:p>
            <a:r>
              <a:rPr lang="zh-CN" altLang="en-US" sz="1000" dirty="0" smtClean="0"/>
              <a:t> </a:t>
            </a:r>
            <a:r>
              <a:rPr lang="en-US" altLang="zh-CN" sz="1000" dirty="0" smtClean="0"/>
              <a:t>// field: </a:t>
            </a:r>
            <a:r>
              <a:rPr lang="zh-CN" altLang="en-US" sz="1000" dirty="0" smtClean="0"/>
              <a:t>结构体的某个成员</a:t>
            </a:r>
            <a:endParaRPr lang="en-US" sz="1000" dirty="0" smtClean="0"/>
          </a:p>
          <a:p>
            <a:r>
              <a:rPr lang="zh-CN" altLang="en-US" sz="1000" dirty="0" smtClean="0"/>
              <a:t>这个宏的作用是：根据一个结构体实例中的成员的地址，取到整个结构体实例的地址</a:t>
            </a:r>
            <a:endParaRPr lang="en-US" altLang="zh-CN" sz="1000" dirty="0" smtClean="0"/>
          </a:p>
          <a:p>
            <a:r>
              <a:rPr lang="en-US" altLang="zh-CN" sz="1000" dirty="0" smtClean="0"/>
              <a:t>4</a:t>
            </a:r>
            <a:r>
              <a:rPr lang="zh-CN" altLang="en-US" sz="1000" dirty="0" smtClean="0"/>
              <a:t>、</a:t>
            </a:r>
            <a:endParaRPr lang="en-US" altLang="zh-CN" sz="1000" dirty="0" smtClean="0"/>
          </a:p>
          <a:p>
            <a:r>
              <a:rPr lang="zh-CN" altLang="en-US" sz="1000" dirty="0" smtClean="0"/>
              <a:t>处理投递类型</a:t>
            </a:r>
            <a:endParaRPr lang="en-US" altLang="zh-CN" sz="1000" dirty="0" smtClean="0"/>
          </a:p>
          <a:p>
            <a:r>
              <a:rPr lang="en-US" altLang="zh-CN" sz="1000" dirty="0" smtClean="0"/>
              <a:t>Switch(mode)</a:t>
            </a:r>
          </a:p>
          <a:p>
            <a:r>
              <a:rPr lang="en-US" altLang="zh-CN" sz="1000" dirty="0" smtClean="0"/>
              <a:t>{</a:t>
            </a:r>
          </a:p>
          <a:p>
            <a:r>
              <a:rPr lang="en-US" altLang="zh-CN" sz="1000" dirty="0" smtClean="0"/>
              <a:t>    case accept:   break;</a:t>
            </a:r>
          </a:p>
          <a:p>
            <a:r>
              <a:rPr lang="en-US" altLang="zh-CN" sz="1000" dirty="0" smtClean="0"/>
              <a:t>   case </a:t>
            </a:r>
            <a:r>
              <a:rPr lang="en-US" altLang="zh-CN" sz="1000" dirty="0" err="1" smtClean="0"/>
              <a:t>recv</a:t>
            </a:r>
            <a:r>
              <a:rPr lang="en-US" altLang="zh-CN" sz="1000" dirty="0" smtClean="0"/>
              <a:t>:   break;</a:t>
            </a:r>
          </a:p>
          <a:p>
            <a:r>
              <a:rPr lang="en-US" altLang="zh-CN" sz="1000" dirty="0" smtClean="0"/>
              <a:t>   case send:   break; </a:t>
            </a:r>
            <a:br>
              <a:rPr lang="en-US" altLang="zh-CN" sz="1000" dirty="0" smtClean="0"/>
            </a:br>
            <a:r>
              <a:rPr lang="en-US" altLang="zh-CN" sz="1000" dirty="0" smtClean="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6</a:t>
            </a:r>
            <a:r>
              <a:rPr lang="zh-CN" altLang="en-US" dirty="0" smtClean="0"/>
              <a:t>、投递</a:t>
            </a:r>
            <a:r>
              <a:rPr lang="en-US" altLang="zh-CN" dirty="0" smtClean="0"/>
              <a:t>Accept</a:t>
            </a:r>
            <a:br>
              <a:rPr lang="en-US" altLang="zh-CN" dirty="0" smtClean="0"/>
            </a:br>
            <a:endParaRPr lang="zh-CN" altLang="en-US" dirty="0"/>
          </a:p>
        </p:txBody>
      </p:sp>
      <p:sp>
        <p:nvSpPr>
          <p:cNvPr id="3" name="内容占位符 2"/>
          <p:cNvSpPr>
            <a:spLocks noGrp="1"/>
          </p:cNvSpPr>
          <p:nvPr>
            <p:ph idx="1"/>
          </p:nvPr>
        </p:nvSpPr>
        <p:spPr>
          <a:xfrm>
            <a:off x="285720" y="857232"/>
            <a:ext cx="8643998" cy="5786478"/>
          </a:xfrm>
        </p:spPr>
        <p:txBody>
          <a:bodyPr>
            <a:normAutofit/>
          </a:bodyPr>
          <a:lstStyle/>
          <a:p>
            <a:r>
              <a:rPr lang="en-US" altLang="zh-CN" sz="1200" dirty="0" smtClean="0"/>
              <a:t>1</a:t>
            </a:r>
            <a:r>
              <a:rPr lang="zh-CN" altLang="en-US" sz="1200" dirty="0" smtClean="0"/>
              <a:t>、初始化一定数量的投递</a:t>
            </a:r>
            <a:r>
              <a:rPr lang="en-US" altLang="zh-CN" sz="1200" dirty="0" smtClean="0"/>
              <a:t>Accept</a:t>
            </a:r>
          </a:p>
          <a:p>
            <a:r>
              <a:rPr lang="en-US" altLang="zh-CN" sz="1200" dirty="0" smtClean="0"/>
              <a:t>2</a:t>
            </a:r>
            <a:r>
              <a:rPr lang="zh-CN" altLang="en-US" sz="1200" dirty="0" smtClean="0"/>
              <a:t>、投递</a:t>
            </a:r>
            <a:r>
              <a:rPr lang="en-US" altLang="zh-CN" sz="1200" dirty="0" smtClean="0"/>
              <a:t>Accept</a:t>
            </a:r>
          </a:p>
          <a:p>
            <a:pPr>
              <a:buNone/>
            </a:pPr>
            <a:r>
              <a:rPr lang="zh-CN" altLang="en-US" sz="1200" dirty="0" smtClean="0"/>
              <a:t>创建</a:t>
            </a:r>
            <a:r>
              <a:rPr lang="en-US" altLang="zh-CN" sz="1200" dirty="0" smtClean="0"/>
              <a:t>socket</a:t>
            </a:r>
          </a:p>
          <a:p>
            <a:pPr>
              <a:buNone/>
            </a:pPr>
            <a:r>
              <a:rPr lang="zh-CN" altLang="en-US" sz="1200" dirty="0" smtClean="0"/>
              <a:t>设置非阻塞</a:t>
            </a:r>
            <a:endParaRPr lang="en-US" altLang="zh-CN" sz="1200" dirty="0" smtClean="0"/>
          </a:p>
          <a:p>
            <a:pPr>
              <a:buNone/>
            </a:pPr>
            <a:r>
              <a:rPr lang="zh-CN" altLang="en-US" sz="1200" dirty="0" smtClean="0"/>
              <a:t>获取</a:t>
            </a:r>
            <a:r>
              <a:rPr lang="en-US" altLang="zh-CN" sz="1200" dirty="0" smtClean="0"/>
              <a:t>accept</a:t>
            </a:r>
            <a:r>
              <a:rPr lang="zh-CN" altLang="en-US" sz="1200" dirty="0" smtClean="0"/>
              <a:t>对象回收池里面的一个实例对象</a:t>
            </a:r>
            <a:endParaRPr lang="en-US" altLang="zh-CN" sz="1200" dirty="0" smtClean="0"/>
          </a:p>
          <a:p>
            <a:pPr>
              <a:buNone/>
            </a:pPr>
            <a:r>
              <a:rPr lang="en-US" altLang="zh-CN" sz="1200" dirty="0" err="1" smtClean="0"/>
              <a:t>m_AcceptEx</a:t>
            </a:r>
            <a:r>
              <a:rPr lang="zh-CN" altLang="en-US" sz="1200" dirty="0" smtClean="0"/>
              <a:t>函数指针投递新的连接</a:t>
            </a:r>
            <a:endParaRPr lang="en-US" altLang="zh-CN" sz="1200" dirty="0" smtClean="0"/>
          </a:p>
          <a:p>
            <a:r>
              <a:rPr lang="en-US" altLang="zh-CN" sz="1200" dirty="0" err="1" smtClean="0"/>
              <a:t>bool</a:t>
            </a:r>
            <a:r>
              <a:rPr lang="en-US" altLang="zh-CN" sz="1200" dirty="0" smtClean="0"/>
              <a:t> </a:t>
            </a:r>
            <a:r>
              <a:rPr lang="en-US" altLang="zh-CN" sz="1200" dirty="0" err="1" smtClean="0"/>
              <a:t>isaccept</a:t>
            </a:r>
            <a:r>
              <a:rPr lang="en-US" altLang="zh-CN" sz="1200" dirty="0" smtClean="0"/>
              <a:t> = </a:t>
            </a:r>
            <a:r>
              <a:rPr lang="en-US" altLang="zh-CN" sz="1200" dirty="0" err="1" smtClean="0"/>
              <a:t>m_AcceptEx</a:t>
            </a:r>
            <a:r>
              <a:rPr lang="en-US" altLang="zh-CN" sz="1200" dirty="0" smtClean="0"/>
              <a:t>(//1</a:t>
            </a:r>
            <a:r>
              <a:rPr lang="zh-CN" altLang="en-US" sz="1200" dirty="0" smtClean="0"/>
              <a:t>、监听</a:t>
            </a:r>
            <a:r>
              <a:rPr lang="en-US" altLang="zh-CN" sz="1200" dirty="0" smtClean="0"/>
              <a:t>socket</a:t>
            </a:r>
          </a:p>
          <a:p>
            <a:r>
              <a:rPr lang="en-US" altLang="zh-CN" sz="1200" dirty="0" smtClean="0"/>
              <a:t>//2</a:t>
            </a:r>
            <a:r>
              <a:rPr lang="zh-CN" altLang="en-US" sz="1200" dirty="0" smtClean="0"/>
              <a:t>、接受连接</a:t>
            </a:r>
            <a:r>
              <a:rPr lang="en-US" altLang="zh-CN" sz="1200" dirty="0" smtClean="0"/>
              <a:t>socket</a:t>
            </a:r>
          </a:p>
          <a:p>
            <a:r>
              <a:rPr lang="en-US" altLang="zh-CN" sz="1200" dirty="0" smtClean="0"/>
              <a:t>//3</a:t>
            </a:r>
            <a:r>
              <a:rPr lang="zh-CN" altLang="en-US" sz="1200" dirty="0" smtClean="0"/>
              <a:t>、接受缓冲区 </a:t>
            </a:r>
            <a:r>
              <a:rPr lang="en-US" altLang="zh-CN" sz="1200" dirty="0" smtClean="0"/>
              <a:t>a</a:t>
            </a:r>
            <a:r>
              <a:rPr lang="zh-CN" altLang="en-US" sz="1200" dirty="0" smtClean="0"/>
              <a:t>、客户端发来第一组数据 </a:t>
            </a:r>
            <a:r>
              <a:rPr lang="en-US" altLang="zh-CN" sz="1200" dirty="0" smtClean="0"/>
              <a:t>b</a:t>
            </a:r>
            <a:r>
              <a:rPr lang="zh-CN" altLang="en-US" sz="1200" dirty="0" smtClean="0"/>
              <a:t>、</a:t>
            </a:r>
            <a:r>
              <a:rPr lang="en-US" altLang="zh-CN" sz="1200" dirty="0" smtClean="0"/>
              <a:t>server</a:t>
            </a:r>
            <a:r>
              <a:rPr lang="zh-CN" altLang="en-US" sz="1200" dirty="0" smtClean="0"/>
              <a:t>地址 </a:t>
            </a:r>
            <a:r>
              <a:rPr lang="en-US" altLang="zh-CN" sz="1200" dirty="0" smtClean="0"/>
              <a:t>c</a:t>
            </a:r>
            <a:r>
              <a:rPr lang="zh-CN" altLang="en-US" sz="1200" dirty="0" smtClean="0"/>
              <a:t>、</a:t>
            </a:r>
            <a:r>
              <a:rPr lang="en-US" altLang="zh-CN" sz="1200" dirty="0" smtClean="0"/>
              <a:t>client</a:t>
            </a:r>
            <a:r>
              <a:rPr lang="zh-CN" altLang="en-US" sz="1200" dirty="0" smtClean="0"/>
              <a:t>地址</a:t>
            </a:r>
          </a:p>
          <a:p>
            <a:r>
              <a:rPr lang="en-US" altLang="zh-CN" sz="1200" dirty="0" smtClean="0"/>
              <a:t>//4</a:t>
            </a:r>
            <a:r>
              <a:rPr lang="zh-CN" altLang="en-US" sz="1200" dirty="0" smtClean="0"/>
              <a:t>、</a:t>
            </a:r>
            <a:r>
              <a:rPr lang="en-US" altLang="zh-CN" sz="1200" dirty="0" smtClean="0"/>
              <a:t>0</a:t>
            </a:r>
            <a:r>
              <a:rPr lang="zh-CN" altLang="en-US" sz="1200" dirty="0" smtClean="0"/>
              <a:t>不会等到数据到来直接返回 非</a:t>
            </a:r>
            <a:r>
              <a:rPr lang="en-US" altLang="zh-CN" sz="1200" dirty="0" smtClean="0"/>
              <a:t>0</a:t>
            </a:r>
            <a:r>
              <a:rPr lang="zh-CN" altLang="en-US" sz="1200" dirty="0" smtClean="0"/>
              <a:t>等待数据</a:t>
            </a:r>
          </a:p>
          <a:p>
            <a:r>
              <a:rPr lang="en-US" altLang="zh-CN" sz="1200" dirty="0" smtClean="0"/>
              <a:t>//5</a:t>
            </a:r>
            <a:r>
              <a:rPr lang="zh-CN" altLang="en-US" sz="1200" dirty="0" smtClean="0"/>
              <a:t>、本地地址大小；长度必须为地址长度 </a:t>
            </a:r>
            <a:r>
              <a:rPr lang="en-US" altLang="zh-CN" sz="1200" dirty="0" smtClean="0"/>
              <a:t>+ 16</a:t>
            </a:r>
            <a:r>
              <a:rPr lang="zh-CN" altLang="en-US" sz="1200" dirty="0" smtClean="0"/>
              <a:t>字节</a:t>
            </a:r>
          </a:p>
          <a:p>
            <a:r>
              <a:rPr lang="en-US" altLang="zh-CN" sz="1200" dirty="0" smtClean="0"/>
              <a:t>//6</a:t>
            </a:r>
            <a:r>
              <a:rPr lang="zh-CN" altLang="en-US" sz="1200" dirty="0" smtClean="0"/>
              <a:t>、远端地址大小；长度必须为地址长度 </a:t>
            </a:r>
            <a:r>
              <a:rPr lang="en-US" altLang="zh-CN" sz="1200" dirty="0" smtClean="0"/>
              <a:t>+ 16</a:t>
            </a:r>
            <a:r>
              <a:rPr lang="zh-CN" altLang="en-US" sz="1200" dirty="0" smtClean="0"/>
              <a:t>字节</a:t>
            </a:r>
          </a:p>
          <a:p>
            <a:r>
              <a:rPr lang="en-US" altLang="zh-CN" sz="1200" dirty="0" smtClean="0"/>
              <a:t>//7</a:t>
            </a:r>
            <a:r>
              <a:rPr lang="zh-CN" altLang="en-US" sz="1200" dirty="0" smtClean="0"/>
              <a:t>、同步方式才有用 我们是异步</a:t>
            </a:r>
            <a:r>
              <a:rPr lang="en-US" altLang="zh-CN" sz="1200" dirty="0" smtClean="0"/>
              <a:t>IO</a:t>
            </a:r>
            <a:r>
              <a:rPr lang="zh-CN" altLang="en-US" sz="1200" dirty="0" smtClean="0"/>
              <a:t>没用，不用管；</a:t>
            </a:r>
          </a:p>
          <a:p>
            <a:r>
              <a:rPr lang="en-US" altLang="zh-CN" sz="1200" dirty="0" smtClean="0"/>
              <a:t>//8</a:t>
            </a:r>
            <a:r>
              <a:rPr lang="zh-CN" altLang="en-US" sz="1200" dirty="0" smtClean="0"/>
              <a:t>、本次重叠</a:t>
            </a:r>
            <a:r>
              <a:rPr lang="en-US" altLang="zh-CN" sz="1200" dirty="0" smtClean="0"/>
              <a:t>I / O</a:t>
            </a:r>
            <a:r>
              <a:rPr lang="zh-CN" altLang="en-US" sz="1200" dirty="0" smtClean="0"/>
              <a:t>所要用到的重叠结构</a:t>
            </a:r>
            <a:endParaRPr lang="en-US" altLang="zh-CN" sz="1200" dirty="0" smtClean="0"/>
          </a:p>
          <a:p>
            <a:r>
              <a:rPr lang="en-US" altLang="zh-CN" sz="1200" dirty="0" smtClean="0"/>
              <a:t>3</a:t>
            </a:r>
            <a:r>
              <a:rPr lang="zh-CN" altLang="en-US" sz="1200" dirty="0" smtClean="0"/>
              <a:t>、工作线程新的连接</a:t>
            </a:r>
            <a:r>
              <a:rPr lang="en-US" altLang="zh-CN" sz="1200" dirty="0" smtClean="0"/>
              <a:t>IO</a:t>
            </a:r>
            <a:r>
              <a:rPr lang="zh-CN" altLang="en-US" sz="1200" dirty="0" smtClean="0"/>
              <a:t>事件通知</a:t>
            </a:r>
            <a:endParaRPr lang="en-US" altLang="zh-CN" sz="1200" dirty="0" smtClean="0"/>
          </a:p>
          <a:p>
            <a:r>
              <a:rPr lang="en-US" altLang="zh-CN" sz="1200" dirty="0" err="1" smtClean="0"/>
              <a:t>m_GetAcceptEx</a:t>
            </a:r>
            <a:r>
              <a:rPr lang="zh-CN" altLang="en-US" sz="1200" dirty="0" smtClean="0"/>
              <a:t>函数指针来获取新的连接数据</a:t>
            </a:r>
            <a:endParaRPr lang="en-US" altLang="zh-CN" sz="1200" dirty="0" smtClean="0"/>
          </a:p>
          <a:p>
            <a:r>
              <a:rPr lang="en-US" altLang="zh-CN" sz="1200" dirty="0" smtClean="0"/>
              <a:t>//1</a:t>
            </a:r>
            <a:r>
              <a:rPr lang="zh-CN" altLang="en-US" sz="1200" dirty="0" smtClean="0"/>
              <a:t>、指向传递给</a:t>
            </a:r>
            <a:r>
              <a:rPr lang="en-US" altLang="zh-CN" sz="1200" dirty="0" err="1" smtClean="0"/>
              <a:t>AcceptEx</a:t>
            </a:r>
            <a:r>
              <a:rPr lang="zh-CN" altLang="en-US" sz="1200" dirty="0" smtClean="0"/>
              <a:t>函数接收第一块数据的缓冲区</a:t>
            </a:r>
          </a:p>
          <a:p>
            <a:r>
              <a:rPr lang="en-US" altLang="zh-CN" sz="1200" dirty="0" smtClean="0"/>
              <a:t>//2</a:t>
            </a:r>
            <a:r>
              <a:rPr lang="zh-CN" altLang="en-US" sz="1200" dirty="0" smtClean="0"/>
              <a:t>、缓冲区大小，必须和传递给</a:t>
            </a:r>
            <a:r>
              <a:rPr lang="en-US" altLang="zh-CN" sz="1200" dirty="0" err="1" smtClean="0"/>
              <a:t>AccpetEx</a:t>
            </a:r>
            <a:r>
              <a:rPr lang="zh-CN" altLang="en-US" sz="1200" dirty="0" smtClean="0"/>
              <a:t>函数的一致</a:t>
            </a:r>
          </a:p>
          <a:p>
            <a:r>
              <a:rPr lang="en-US" altLang="zh-CN" sz="1200" dirty="0" smtClean="0"/>
              <a:t>//3</a:t>
            </a:r>
            <a:r>
              <a:rPr lang="zh-CN" altLang="en-US" sz="1200" dirty="0" smtClean="0"/>
              <a:t>、本地地址大小，必须和传递给</a:t>
            </a:r>
            <a:r>
              <a:rPr lang="en-US" altLang="zh-CN" sz="1200" dirty="0" err="1" smtClean="0"/>
              <a:t>AccpetEx</a:t>
            </a:r>
            <a:r>
              <a:rPr lang="zh-CN" altLang="en-US" sz="1200" dirty="0" smtClean="0"/>
              <a:t>函数一致</a:t>
            </a:r>
          </a:p>
          <a:p>
            <a:r>
              <a:rPr lang="en-US" altLang="zh-CN" sz="1200" dirty="0" smtClean="0"/>
              <a:t>//4</a:t>
            </a:r>
            <a:r>
              <a:rPr lang="zh-CN" altLang="en-US" sz="1200" dirty="0" smtClean="0"/>
              <a:t>、远程地址大小，必须和传递给</a:t>
            </a:r>
            <a:r>
              <a:rPr lang="en-US" altLang="zh-CN" sz="1200" dirty="0" err="1" smtClean="0"/>
              <a:t>AccpetEx</a:t>
            </a:r>
            <a:r>
              <a:rPr lang="zh-CN" altLang="en-US" sz="1200" dirty="0" smtClean="0"/>
              <a:t>函数一致</a:t>
            </a:r>
          </a:p>
          <a:p>
            <a:r>
              <a:rPr lang="en-US" altLang="zh-CN" sz="1200" dirty="0" smtClean="0"/>
              <a:t>//5</a:t>
            </a:r>
            <a:r>
              <a:rPr lang="zh-CN" altLang="en-US" sz="1200" dirty="0" smtClean="0"/>
              <a:t>、用来返回连接的本地地址</a:t>
            </a:r>
          </a:p>
          <a:p>
            <a:r>
              <a:rPr lang="en-US" altLang="zh-CN" sz="1200" dirty="0" smtClean="0"/>
              <a:t>//6</a:t>
            </a:r>
            <a:r>
              <a:rPr lang="zh-CN" altLang="en-US" sz="1200" dirty="0" smtClean="0"/>
              <a:t>、用来返回本地地址的长度</a:t>
            </a:r>
          </a:p>
          <a:p>
            <a:r>
              <a:rPr lang="en-US" altLang="zh-CN" sz="1200" dirty="0" smtClean="0"/>
              <a:t>//7</a:t>
            </a:r>
            <a:r>
              <a:rPr lang="zh-CN" altLang="en-US" sz="1200" dirty="0" smtClean="0"/>
              <a:t>、用来返回远程地址</a:t>
            </a:r>
          </a:p>
          <a:p>
            <a:r>
              <a:rPr lang="en-US" altLang="zh-CN" sz="1200" dirty="0" smtClean="0"/>
              <a:t>//8</a:t>
            </a:r>
            <a:r>
              <a:rPr lang="zh-CN" altLang="en-US" sz="1200" dirty="0" smtClean="0"/>
              <a:t>、用来返回远程地址的长度</a:t>
            </a:r>
            <a:endParaRPr lang="en-US" altLang="zh-CN" sz="1200" dirty="0" smtClean="0"/>
          </a:p>
          <a:p>
            <a:r>
              <a:rPr lang="en-US" altLang="zh-CN" sz="1200" dirty="0" smtClean="0"/>
              <a:t>4</a:t>
            </a:r>
            <a:r>
              <a:rPr lang="zh-CN" altLang="en-US" sz="1200" dirty="0" smtClean="0"/>
              <a:t>、寻找一个空闲的连接数据 给我们这个新的连接使用。投递</a:t>
            </a:r>
            <a:r>
              <a:rPr lang="en-US" altLang="zh-CN" sz="1200" dirty="0" err="1" smtClean="0"/>
              <a:t>recv</a:t>
            </a:r>
            <a:r>
              <a:rPr lang="en-US" altLang="zh-CN" sz="1200" dirty="0" smtClean="0"/>
              <a:t> </a:t>
            </a:r>
            <a:r>
              <a:rPr lang="zh-CN" altLang="en-US" sz="1200" dirty="0" smtClean="0"/>
              <a:t>投递</a:t>
            </a:r>
            <a:r>
              <a:rPr lang="en-US" altLang="zh-CN" sz="1200" dirty="0" smtClean="0"/>
              <a:t>accept</a:t>
            </a:r>
            <a:endParaRPr lang="zh-CN"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7</a:t>
            </a:r>
            <a:r>
              <a:rPr lang="zh-CN" altLang="en-US" dirty="0" smtClean="0"/>
              <a:t>、投递</a:t>
            </a:r>
            <a:r>
              <a:rPr lang="en-US" altLang="zh-CN" dirty="0" err="1" smtClean="0"/>
              <a:t>recv</a:t>
            </a:r>
            <a:r>
              <a:rPr lang="en-US" altLang="zh-CN" dirty="0" smtClean="0"/>
              <a:t/>
            </a:r>
            <a:br>
              <a:rPr lang="en-US" altLang="zh-CN" dirty="0" smtClean="0"/>
            </a:br>
            <a:endParaRPr lang="zh-CN" altLang="en-US" dirty="0"/>
          </a:p>
        </p:txBody>
      </p:sp>
      <p:sp>
        <p:nvSpPr>
          <p:cNvPr id="3" name="内容占位符 2"/>
          <p:cNvSpPr>
            <a:spLocks noGrp="1"/>
          </p:cNvSpPr>
          <p:nvPr>
            <p:ph idx="1"/>
          </p:nvPr>
        </p:nvSpPr>
        <p:spPr>
          <a:xfrm>
            <a:off x="285720" y="928670"/>
            <a:ext cx="8643998" cy="5715040"/>
          </a:xfrm>
        </p:spPr>
        <p:txBody>
          <a:bodyPr>
            <a:normAutofit/>
          </a:bodyPr>
          <a:lstStyle/>
          <a:p>
            <a:r>
              <a:rPr lang="en-US" altLang="zh-CN" sz="1600" dirty="0" smtClean="0"/>
              <a:t>1</a:t>
            </a:r>
            <a:r>
              <a:rPr lang="zh-CN" altLang="en-US" sz="1600" dirty="0" smtClean="0"/>
              <a:t>、使用</a:t>
            </a:r>
            <a:r>
              <a:rPr lang="en-US" altLang="zh-CN" sz="1600" dirty="0" err="1" smtClean="0"/>
              <a:t>WSARecv</a:t>
            </a:r>
            <a:r>
              <a:rPr lang="zh-CN" altLang="en-US" sz="1600" dirty="0" smtClean="0"/>
              <a:t>函数投递</a:t>
            </a:r>
            <a:endParaRPr lang="en-US" altLang="zh-CN" sz="1600" dirty="0" smtClean="0"/>
          </a:p>
          <a:p>
            <a:r>
              <a:rPr lang="en-US" altLang="zh-CN" sz="1600" dirty="0" smtClean="0"/>
              <a:t>//1</a:t>
            </a:r>
            <a:r>
              <a:rPr lang="zh-CN" altLang="en-US" sz="1600" dirty="0" smtClean="0"/>
              <a:t>、 操作的套接字</a:t>
            </a:r>
          </a:p>
          <a:p>
            <a:r>
              <a:rPr lang="en-US" altLang="zh-CN" sz="1600" dirty="0" smtClean="0"/>
              <a:t>//2</a:t>
            </a:r>
            <a:r>
              <a:rPr lang="zh-CN" altLang="en-US" sz="1600" dirty="0" smtClean="0"/>
              <a:t>、 接收缓冲区</a:t>
            </a:r>
          </a:p>
          <a:p>
            <a:r>
              <a:rPr lang="en-US" altLang="zh-CN" sz="1600" dirty="0" smtClean="0"/>
              <a:t>//3</a:t>
            </a:r>
            <a:r>
              <a:rPr lang="zh-CN" altLang="en-US" sz="1600" dirty="0" smtClean="0"/>
              <a:t>、 </a:t>
            </a:r>
            <a:r>
              <a:rPr lang="en-US" altLang="zh-CN" sz="1600" dirty="0" err="1" smtClean="0"/>
              <a:t>wsaBuf</a:t>
            </a:r>
            <a:r>
              <a:rPr lang="zh-CN" altLang="en-US" sz="1600" dirty="0" smtClean="0"/>
              <a:t>数组中</a:t>
            </a:r>
            <a:r>
              <a:rPr lang="en-US" altLang="zh-CN" sz="1600" dirty="0" smtClean="0"/>
              <a:t>WSABUF</a:t>
            </a:r>
            <a:r>
              <a:rPr lang="zh-CN" altLang="en-US" sz="1600" dirty="0" smtClean="0"/>
              <a:t>结构的数目</a:t>
            </a:r>
          </a:p>
          <a:p>
            <a:r>
              <a:rPr lang="en-US" altLang="zh-CN" sz="1600" dirty="0" smtClean="0"/>
              <a:t>//4</a:t>
            </a:r>
            <a:r>
              <a:rPr lang="zh-CN" altLang="en-US" sz="1600" dirty="0" smtClean="0"/>
              <a:t>、 如果接收操作立即完成</a:t>
            </a:r>
            <a:r>
              <a:rPr lang="en-US" altLang="zh-CN" sz="1600" dirty="0" smtClean="0"/>
              <a:t>,</a:t>
            </a:r>
            <a:r>
              <a:rPr lang="zh-CN" altLang="en-US" sz="1600" dirty="0" smtClean="0"/>
              <a:t>返回函数调用所接收到的字节数</a:t>
            </a:r>
          </a:p>
          <a:p>
            <a:r>
              <a:rPr lang="en-US" altLang="zh-CN" sz="1600" dirty="0" smtClean="0"/>
              <a:t>//5</a:t>
            </a:r>
            <a:r>
              <a:rPr lang="zh-CN" altLang="en-US" sz="1600" dirty="0" smtClean="0"/>
              <a:t>、 用来控制套接字的行为 一般设置为</a:t>
            </a:r>
            <a:r>
              <a:rPr lang="en-US" altLang="zh-CN" sz="1600" dirty="0" smtClean="0"/>
              <a:t>0</a:t>
            </a:r>
            <a:endParaRPr lang="zh-CN" altLang="en-US" sz="1600" dirty="0" smtClean="0"/>
          </a:p>
          <a:p>
            <a:r>
              <a:rPr lang="en-US" altLang="zh-CN" sz="1600" dirty="0" smtClean="0"/>
              <a:t>//6</a:t>
            </a:r>
            <a:r>
              <a:rPr lang="zh-CN" altLang="en-US" sz="1600" dirty="0" smtClean="0"/>
              <a:t>、 重叠结构</a:t>
            </a:r>
          </a:p>
          <a:p>
            <a:r>
              <a:rPr lang="en-US" altLang="zh-CN" sz="1600" dirty="0" smtClean="0"/>
              <a:t>//7</a:t>
            </a:r>
            <a:r>
              <a:rPr lang="zh-CN" altLang="en-US" sz="1600" dirty="0" smtClean="0"/>
              <a:t>、 一个指向接收操作结束后调用的例程的指针</a:t>
            </a:r>
            <a:endParaRPr lang="en-US" altLang="zh-CN" sz="1600" dirty="0" smtClean="0"/>
          </a:p>
          <a:p>
            <a:r>
              <a:rPr lang="en-US" altLang="zh-CN" sz="1600" dirty="0" smtClean="0"/>
              <a:t>2</a:t>
            </a:r>
            <a:r>
              <a:rPr lang="zh-CN" altLang="en-US" sz="1600" dirty="0" smtClean="0"/>
              <a:t>、投递成功 接收数据</a:t>
            </a:r>
            <a:endParaRPr lang="en-US" altLang="zh-CN" sz="1600" dirty="0" smtClean="0"/>
          </a:p>
          <a:p>
            <a:r>
              <a:rPr lang="zh-CN" altLang="en-US" sz="1600" dirty="0" smtClean="0"/>
              <a:t>保存数据</a:t>
            </a:r>
            <a:endParaRPr lang="en-US" altLang="zh-CN" sz="1600" dirty="0" smtClean="0"/>
          </a:p>
          <a:p>
            <a:endParaRPr lang="en-US" altLang="zh-CN" sz="1600" dirty="0" smtClean="0"/>
          </a:p>
          <a:p>
            <a:r>
              <a:rPr lang="en-US" altLang="zh-CN" sz="1600" dirty="0" smtClean="0"/>
              <a:t>3</a:t>
            </a:r>
            <a:r>
              <a:rPr lang="zh-CN" altLang="en-US" sz="1600" dirty="0" smtClean="0"/>
              <a:t>、继续投递接收新的数据</a:t>
            </a:r>
            <a:endParaRPr lang="en-US" altLang="zh-CN" sz="1600" dirty="0" smtClean="0"/>
          </a:p>
          <a:p>
            <a:r>
              <a:rPr lang="en-US" altLang="zh-CN" sz="1600" dirty="0" smtClean="0"/>
              <a:t>m_wsaBuf.buf</a:t>
            </a:r>
            <a:endParaRPr lang="zh-CN" alt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8</a:t>
            </a:r>
            <a:r>
              <a:rPr lang="zh-CN" altLang="en-US" dirty="0" smtClean="0"/>
              <a:t>、投递</a:t>
            </a:r>
            <a:r>
              <a:rPr lang="en-US" altLang="zh-CN" dirty="0" smtClean="0"/>
              <a:t>send</a:t>
            </a:r>
            <a:br>
              <a:rPr lang="en-US" altLang="zh-CN" dirty="0" smtClean="0"/>
            </a:br>
            <a:endParaRPr lang="zh-CN" altLang="en-US" dirty="0"/>
          </a:p>
        </p:txBody>
      </p:sp>
      <p:sp>
        <p:nvSpPr>
          <p:cNvPr id="3" name="内容占位符 2"/>
          <p:cNvSpPr>
            <a:spLocks noGrp="1"/>
          </p:cNvSpPr>
          <p:nvPr>
            <p:ph idx="1"/>
          </p:nvPr>
        </p:nvSpPr>
        <p:spPr>
          <a:xfrm>
            <a:off x="428596" y="785794"/>
            <a:ext cx="8358246" cy="5857916"/>
          </a:xfrm>
        </p:spPr>
        <p:txBody>
          <a:bodyPr/>
          <a:lstStyle/>
          <a:p>
            <a:r>
              <a:rPr lang="en-US" altLang="zh-CN" sz="1800" dirty="0" smtClean="0"/>
              <a:t>1</a:t>
            </a:r>
            <a:r>
              <a:rPr lang="zh-CN" altLang="en-US" sz="1800" dirty="0" smtClean="0"/>
              <a:t>、使用</a:t>
            </a:r>
            <a:r>
              <a:rPr lang="en-US" altLang="zh-CN" sz="1800" dirty="0" err="1" smtClean="0"/>
              <a:t>WSASend</a:t>
            </a:r>
            <a:endParaRPr lang="en-US" altLang="zh-CN" sz="1800" dirty="0" smtClean="0"/>
          </a:p>
          <a:p>
            <a:r>
              <a:rPr lang="en-US" altLang="zh-CN" sz="1800" dirty="0" smtClean="0"/>
              <a:t>//1</a:t>
            </a:r>
            <a:r>
              <a:rPr lang="zh-CN" altLang="en-US" sz="1800" dirty="0" smtClean="0"/>
              <a:t>、 操作的套接字</a:t>
            </a:r>
          </a:p>
          <a:p>
            <a:r>
              <a:rPr lang="en-US" altLang="zh-CN" sz="1800" dirty="0" smtClean="0"/>
              <a:t>//2</a:t>
            </a:r>
            <a:r>
              <a:rPr lang="zh-CN" altLang="en-US" sz="1800" dirty="0" smtClean="0"/>
              <a:t>、 接收缓冲区</a:t>
            </a:r>
          </a:p>
          <a:p>
            <a:r>
              <a:rPr lang="en-US" altLang="zh-CN" sz="1800" dirty="0" smtClean="0"/>
              <a:t>//3</a:t>
            </a:r>
            <a:r>
              <a:rPr lang="zh-CN" altLang="en-US" sz="1800" dirty="0" smtClean="0"/>
              <a:t>、 </a:t>
            </a:r>
            <a:r>
              <a:rPr lang="en-US" altLang="zh-CN" sz="1800" dirty="0" err="1" smtClean="0"/>
              <a:t>wsaBuf</a:t>
            </a:r>
            <a:r>
              <a:rPr lang="zh-CN" altLang="en-US" sz="1800" dirty="0" smtClean="0"/>
              <a:t>数组中</a:t>
            </a:r>
            <a:r>
              <a:rPr lang="en-US" altLang="zh-CN" sz="1800" dirty="0" smtClean="0"/>
              <a:t>WSABUF</a:t>
            </a:r>
            <a:r>
              <a:rPr lang="zh-CN" altLang="en-US" sz="1800" dirty="0" smtClean="0"/>
              <a:t>结构的数目</a:t>
            </a:r>
          </a:p>
          <a:p>
            <a:r>
              <a:rPr lang="en-US" altLang="zh-CN" sz="1800" dirty="0" smtClean="0"/>
              <a:t>//4</a:t>
            </a:r>
            <a:r>
              <a:rPr lang="zh-CN" altLang="en-US" sz="1800" dirty="0" smtClean="0"/>
              <a:t>、 如果接收操作立即完成</a:t>
            </a:r>
            <a:r>
              <a:rPr lang="en-US" altLang="zh-CN" sz="1800" dirty="0" smtClean="0"/>
              <a:t>,</a:t>
            </a:r>
            <a:r>
              <a:rPr lang="zh-CN" altLang="en-US" sz="1800" dirty="0" smtClean="0"/>
              <a:t>返回函数调用所接收到的字节数</a:t>
            </a:r>
          </a:p>
          <a:p>
            <a:r>
              <a:rPr lang="en-US" altLang="zh-CN" sz="1800" dirty="0" smtClean="0"/>
              <a:t>//5</a:t>
            </a:r>
            <a:r>
              <a:rPr lang="zh-CN" altLang="en-US" sz="1800" dirty="0" smtClean="0"/>
              <a:t>、 用来控制套接字的行为 一般设置为</a:t>
            </a:r>
            <a:r>
              <a:rPr lang="en-US" altLang="zh-CN" sz="1800" dirty="0" smtClean="0"/>
              <a:t>0</a:t>
            </a:r>
            <a:endParaRPr lang="zh-CN" altLang="en-US" sz="1800" dirty="0" smtClean="0"/>
          </a:p>
          <a:p>
            <a:r>
              <a:rPr lang="en-US" altLang="zh-CN" sz="1800" dirty="0" smtClean="0"/>
              <a:t>//6</a:t>
            </a:r>
            <a:r>
              <a:rPr lang="zh-CN" altLang="en-US" sz="1800" dirty="0" smtClean="0"/>
              <a:t>、 重叠结构</a:t>
            </a:r>
          </a:p>
          <a:p>
            <a:r>
              <a:rPr lang="en-US" altLang="zh-CN" sz="1800" dirty="0" smtClean="0"/>
              <a:t>//7</a:t>
            </a:r>
            <a:r>
              <a:rPr lang="zh-CN" altLang="en-US" sz="1800" dirty="0" smtClean="0"/>
              <a:t>、 一个指向接收操作结束后调用的例程的指针</a:t>
            </a:r>
            <a:endParaRPr lang="en-US" altLang="zh-CN" sz="1800" dirty="0" smtClean="0"/>
          </a:p>
          <a:p>
            <a:r>
              <a:rPr lang="en-US" altLang="zh-CN" sz="1800" dirty="0" smtClean="0"/>
              <a:t>2</a:t>
            </a:r>
            <a:r>
              <a:rPr lang="zh-CN" altLang="en-US" sz="1800" dirty="0" smtClean="0"/>
              <a:t>、发送成功事件</a:t>
            </a:r>
            <a:endParaRPr lang="en-US" altLang="zh-CN" sz="1800" dirty="0" smtClean="0"/>
          </a:p>
          <a:p>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9</a:t>
            </a:r>
            <a:r>
              <a:rPr lang="zh-CN" altLang="en-US" dirty="0" smtClean="0"/>
              <a:t>、封包</a:t>
            </a:r>
            <a:r>
              <a:rPr lang="en-US" altLang="zh-CN" dirty="0" smtClean="0"/>
              <a:t>-</a:t>
            </a:r>
            <a:r>
              <a:rPr lang="zh-CN" altLang="en-US" dirty="0" smtClean="0"/>
              <a:t>生产发送数据</a:t>
            </a:r>
            <a:r>
              <a:rPr lang="en-US" altLang="zh-CN" dirty="0" smtClean="0"/>
              <a:t/>
            </a:r>
            <a:br>
              <a:rPr lang="en-US" altLang="zh-CN" dirty="0" smtClean="0"/>
            </a:br>
            <a:endParaRPr lang="zh-CN" altLang="en-US" dirty="0"/>
          </a:p>
        </p:txBody>
      </p:sp>
      <p:sp>
        <p:nvSpPr>
          <p:cNvPr id="3" name="内容占位符 2"/>
          <p:cNvSpPr>
            <a:spLocks noGrp="1"/>
          </p:cNvSpPr>
          <p:nvPr>
            <p:ph idx="1"/>
          </p:nvPr>
        </p:nvSpPr>
        <p:spPr>
          <a:xfrm>
            <a:off x="428596" y="857232"/>
            <a:ext cx="8501122" cy="5715040"/>
          </a:xfrm>
        </p:spPr>
        <p:txBody>
          <a:bodyPr/>
          <a:lstStyle/>
          <a:p>
            <a:r>
              <a:rPr lang="en-US" altLang="zh-CN" dirty="0" smtClean="0"/>
              <a:t>1</a:t>
            </a:r>
            <a:r>
              <a:rPr lang="zh-CN" altLang="en-US" dirty="0" smtClean="0"/>
              <a:t>、封装头</a:t>
            </a:r>
            <a:endParaRPr lang="en-US" altLang="zh-CN" dirty="0" smtClean="0"/>
          </a:p>
          <a:p>
            <a:r>
              <a:rPr lang="en-US" altLang="zh-CN" dirty="0" smtClean="0"/>
              <a:t>b</a:t>
            </a:r>
            <a:r>
              <a:rPr lang="en-US" altLang="zh-CN" dirty="0" smtClean="0"/>
              <a:t>egin(</a:t>
            </a:r>
            <a:r>
              <a:rPr lang="en-US" altLang="zh-CN" dirty="0" err="1" smtClean="0"/>
              <a:t>int</a:t>
            </a:r>
            <a:r>
              <a:rPr lang="en-US" altLang="zh-CN" dirty="0" smtClean="0"/>
              <a:t> id,u16 </a:t>
            </a:r>
            <a:r>
              <a:rPr lang="en-US" altLang="zh-CN" dirty="0" err="1" smtClean="0"/>
              <a:t>cmd</a:t>
            </a:r>
            <a:r>
              <a:rPr lang="en-US" altLang="zh-CN" dirty="0" smtClean="0"/>
              <a:t>)</a:t>
            </a:r>
          </a:p>
          <a:p>
            <a:r>
              <a:rPr lang="zh-CN" altLang="en-US" dirty="0" smtClean="0"/>
              <a:t>封装消息头</a:t>
            </a:r>
            <a:endParaRPr lang="en-US" altLang="zh-CN" dirty="0" smtClean="0"/>
          </a:p>
          <a:p>
            <a:r>
              <a:rPr lang="zh-CN" altLang="en-US" dirty="0" smtClean="0"/>
              <a:t>封装头指令</a:t>
            </a:r>
            <a:endParaRPr lang="en-US" altLang="zh-CN" dirty="0" smtClean="0"/>
          </a:p>
          <a:p>
            <a:r>
              <a:rPr lang="en-US" altLang="zh-CN" dirty="0" smtClean="0"/>
              <a:t>2</a:t>
            </a:r>
            <a:r>
              <a:rPr lang="zh-CN" altLang="en-US" dirty="0" smtClean="0"/>
              <a:t>、</a:t>
            </a:r>
            <a:r>
              <a:rPr lang="zh-CN" altLang="en-US" dirty="0" smtClean="0"/>
              <a:t>封装消息</a:t>
            </a:r>
            <a:r>
              <a:rPr lang="zh-CN" altLang="en-US" dirty="0" smtClean="0"/>
              <a:t>体</a:t>
            </a:r>
            <a:endParaRPr lang="en-US" altLang="zh-CN" dirty="0" smtClean="0"/>
          </a:p>
          <a:p>
            <a:r>
              <a:rPr lang="en-US" altLang="zh-CN" dirty="0" err="1" smtClean="0"/>
              <a:t>sss</a:t>
            </a:r>
            <a:r>
              <a:rPr lang="en-US" altLang="zh-CN" dirty="0" smtClean="0"/>
              <a:t>(</a:t>
            </a:r>
            <a:r>
              <a:rPr lang="en-US" altLang="zh-CN" dirty="0" err="1" smtClean="0"/>
              <a:t>int</a:t>
            </a:r>
            <a:r>
              <a:rPr lang="en-US" altLang="zh-CN" dirty="0" smtClean="0"/>
              <a:t> id,…)</a:t>
            </a:r>
          </a:p>
          <a:p>
            <a:r>
              <a:rPr lang="en-US" altLang="zh-CN" dirty="0" smtClean="0"/>
              <a:t>3</a:t>
            </a:r>
            <a:r>
              <a:rPr lang="zh-CN" altLang="en-US" dirty="0" smtClean="0"/>
              <a:t>、封装尾</a:t>
            </a:r>
            <a:endParaRPr lang="en-US" altLang="zh-CN" dirty="0" smtClean="0"/>
          </a:p>
          <a:p>
            <a:r>
              <a:rPr lang="en-US" altLang="zh-CN" dirty="0" smtClean="0"/>
              <a:t>e</a:t>
            </a:r>
            <a:r>
              <a:rPr lang="en-US" altLang="zh-CN" dirty="0" smtClean="0"/>
              <a:t>nd()</a:t>
            </a:r>
          </a:p>
          <a:p>
            <a:r>
              <a:rPr lang="zh-CN" altLang="en-US" dirty="0" smtClean="0"/>
              <a:t>计算消息长度</a:t>
            </a:r>
            <a:endParaRPr lang="en-US" altLang="zh-CN" dirty="0" smtClean="0"/>
          </a:p>
          <a:p>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10</a:t>
            </a:r>
            <a:r>
              <a:rPr lang="zh-CN" altLang="en-US" dirty="0" smtClean="0"/>
              <a:t>、解包</a:t>
            </a:r>
            <a:r>
              <a:rPr lang="en-US" altLang="zh-CN" dirty="0" smtClean="0"/>
              <a:t>-</a:t>
            </a:r>
            <a:r>
              <a:rPr lang="zh-CN" altLang="en-US" dirty="0" smtClean="0"/>
              <a:t>消费</a:t>
            </a:r>
            <a:r>
              <a:rPr lang="zh-CN" altLang="en-US" dirty="0" smtClean="0"/>
              <a:t>接收数据</a:t>
            </a:r>
            <a:endParaRPr lang="zh-CN" altLang="en-US" dirty="0"/>
          </a:p>
        </p:txBody>
      </p:sp>
      <p:sp>
        <p:nvSpPr>
          <p:cNvPr id="3" name="内容占位符 2"/>
          <p:cNvSpPr>
            <a:spLocks noGrp="1"/>
          </p:cNvSpPr>
          <p:nvPr>
            <p:ph idx="1"/>
          </p:nvPr>
        </p:nvSpPr>
        <p:spPr>
          <a:xfrm>
            <a:off x="428596" y="1214422"/>
            <a:ext cx="8501122" cy="5357850"/>
          </a:xfrm>
        </p:spPr>
        <p:txBody>
          <a:bodyPr/>
          <a:lstStyle/>
          <a:p>
            <a:r>
              <a:rPr lang="en-US" altLang="zh-CN" dirty="0" smtClean="0"/>
              <a:t>1</a:t>
            </a:r>
            <a:r>
              <a:rPr lang="zh-CN" altLang="en-US" dirty="0" smtClean="0"/>
              <a:t>、解包逻辑</a:t>
            </a:r>
            <a:endParaRPr lang="en-US" altLang="zh-CN" dirty="0" smtClean="0"/>
          </a:p>
          <a:p>
            <a:r>
              <a:rPr lang="zh-CN" altLang="en-US" dirty="0" smtClean="0"/>
              <a:t>消息头</a:t>
            </a:r>
            <a:endParaRPr lang="en-US" altLang="zh-CN" dirty="0" smtClean="0"/>
          </a:p>
          <a:p>
            <a:r>
              <a:rPr lang="zh-CN" altLang="en-US" dirty="0" smtClean="0"/>
              <a:t>消息长度</a:t>
            </a:r>
            <a:endParaRPr lang="en-US" altLang="zh-CN" dirty="0" smtClean="0"/>
          </a:p>
          <a:p>
            <a:r>
              <a:rPr lang="zh-CN" altLang="en-US" dirty="0" smtClean="0"/>
              <a:t>头指令</a:t>
            </a:r>
            <a:endParaRPr lang="en-US" altLang="zh-CN" dirty="0" smtClean="0"/>
          </a:p>
          <a:p>
            <a:r>
              <a:rPr lang="zh-CN" altLang="en-US" dirty="0" smtClean="0"/>
              <a:t>消息</a:t>
            </a:r>
            <a:r>
              <a:rPr lang="zh-CN" altLang="en-US" dirty="0" smtClean="0"/>
              <a:t>体</a:t>
            </a:r>
            <a:endParaRPr lang="en-US" altLang="zh-CN" dirty="0" smtClean="0"/>
          </a:p>
          <a:p>
            <a:r>
              <a:rPr lang="en-US" altLang="zh-CN" dirty="0" smtClean="0"/>
              <a:t>2</a:t>
            </a:r>
            <a:r>
              <a:rPr lang="zh-CN" altLang="en-US" dirty="0" smtClean="0"/>
              <a:t>、消息体具体解析 函数重载</a:t>
            </a:r>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11</a:t>
            </a:r>
            <a:r>
              <a:rPr lang="zh-CN" altLang="en-US" dirty="0" smtClean="0"/>
              <a:t>、注册消息指令</a:t>
            </a:r>
            <a:endParaRPr lang="zh-CN" altLang="en-US" dirty="0"/>
          </a:p>
        </p:txBody>
      </p:sp>
      <p:sp>
        <p:nvSpPr>
          <p:cNvPr id="3" name="内容占位符 2"/>
          <p:cNvSpPr>
            <a:spLocks noGrp="1"/>
          </p:cNvSpPr>
          <p:nvPr>
            <p:ph idx="1"/>
          </p:nvPr>
        </p:nvSpPr>
        <p:spPr/>
        <p:txBody>
          <a:bodyPr/>
          <a:lstStyle/>
          <a:p>
            <a:r>
              <a:rPr lang="en-US" altLang="zh-CN" dirty="0" smtClean="0"/>
              <a:t>1</a:t>
            </a:r>
            <a:r>
              <a:rPr lang="zh-CN" altLang="en-US" dirty="0" smtClean="0"/>
              <a:t>、开辟好指令空间</a:t>
            </a:r>
            <a:endParaRPr lang="en-US" altLang="zh-CN" dirty="0" smtClean="0"/>
          </a:p>
          <a:p>
            <a:r>
              <a:rPr lang="en-US" altLang="zh-CN" dirty="0" smtClean="0"/>
              <a:t>2</a:t>
            </a:r>
            <a:r>
              <a:rPr lang="zh-CN" altLang="en-US" dirty="0" smtClean="0"/>
              <a:t>、注册指令</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smtClean="0"/>
              <a:t>12</a:t>
            </a:r>
            <a:r>
              <a:rPr lang="zh-CN" altLang="en-US" dirty="0" smtClean="0"/>
              <a:t>、</a:t>
            </a:r>
            <a:r>
              <a:rPr lang="en-US" altLang="zh-CN" dirty="0" smtClean="0"/>
              <a:t>app</a:t>
            </a:r>
            <a:r>
              <a:rPr lang="zh-CN" altLang="en-US" dirty="0" smtClean="0"/>
              <a:t>管理器</a:t>
            </a:r>
            <a:r>
              <a:rPr lang="en-US" altLang="zh-CN" dirty="0" smtClean="0"/>
              <a:t/>
            </a:r>
            <a:br>
              <a:rPr lang="en-US" altLang="zh-CN" dirty="0" smtClean="0"/>
            </a:br>
            <a:endParaRPr lang="zh-CN" altLang="en-US" dirty="0"/>
          </a:p>
        </p:txBody>
      </p:sp>
      <p:sp>
        <p:nvSpPr>
          <p:cNvPr id="3" name="内容占位符 2"/>
          <p:cNvSpPr>
            <a:spLocks noGrp="1"/>
          </p:cNvSpPr>
          <p:nvPr>
            <p:ph idx="1"/>
          </p:nvPr>
        </p:nvSpPr>
        <p:spPr>
          <a:xfrm>
            <a:off x="357158" y="928670"/>
            <a:ext cx="8572560" cy="5715040"/>
          </a:xfrm>
        </p:spPr>
        <p:txBody>
          <a:bodyPr/>
          <a:lstStyle/>
          <a:p>
            <a:r>
              <a:rPr lang="en-US" altLang="zh-CN" dirty="0" smtClean="0"/>
              <a:t>1</a:t>
            </a:r>
            <a:r>
              <a:rPr lang="zh-CN" altLang="en-US" dirty="0" smtClean="0"/>
              <a:t>、</a:t>
            </a:r>
            <a:r>
              <a:rPr lang="en-US" altLang="zh-CN" dirty="0" err="1" smtClean="0"/>
              <a:t>AppGlobal.h</a:t>
            </a:r>
            <a:endParaRPr lang="en-US" altLang="zh-CN" dirty="0" smtClean="0"/>
          </a:p>
          <a:p>
            <a:r>
              <a:rPr lang="zh-CN" altLang="en-US" dirty="0" smtClean="0"/>
              <a:t>全局定义的函数指针</a:t>
            </a:r>
            <a:endParaRPr lang="en-US" altLang="zh-CN" dirty="0" smtClean="0"/>
          </a:p>
          <a:p>
            <a:r>
              <a:rPr lang="zh-CN" altLang="en-US" dirty="0" smtClean="0"/>
              <a:t>全局定义的</a:t>
            </a:r>
            <a:r>
              <a:rPr lang="en-US" altLang="zh-CN" dirty="0" err="1" smtClean="0"/>
              <a:t>tcpserver</a:t>
            </a:r>
            <a:r>
              <a:rPr lang="zh-CN" altLang="en-US" dirty="0" smtClean="0"/>
              <a:t>对象</a:t>
            </a:r>
            <a:endParaRPr lang="en-US" altLang="zh-CN" dirty="0" smtClean="0"/>
          </a:p>
          <a:p>
            <a:r>
              <a:rPr lang="en-US" altLang="zh-CN" dirty="0" smtClean="0"/>
              <a:t>2</a:t>
            </a:r>
            <a:r>
              <a:rPr lang="zh-CN" altLang="en-US" dirty="0" smtClean="0"/>
              <a:t>、</a:t>
            </a:r>
            <a:r>
              <a:rPr lang="en-US" altLang="zh-CN" dirty="0" err="1" smtClean="0"/>
              <a:t>AppManager</a:t>
            </a:r>
            <a:endParaRPr lang="en-US" altLang="zh-CN" dirty="0" smtClean="0"/>
          </a:p>
          <a:p>
            <a:r>
              <a:rPr lang="zh-CN" altLang="en-US" dirty="0" smtClean="0"/>
              <a:t>初始化数据</a:t>
            </a:r>
            <a:endParaRPr lang="en-US" altLang="zh-CN" dirty="0" smtClean="0"/>
          </a:p>
          <a:p>
            <a:r>
              <a:rPr lang="zh-CN" altLang="en-US" dirty="0" smtClean="0"/>
              <a:t>创建服务器</a:t>
            </a:r>
            <a:endParaRPr lang="en-US" altLang="zh-CN" dirty="0" smtClean="0"/>
          </a:p>
          <a:p>
            <a:r>
              <a:rPr lang="zh-CN" altLang="en-US" dirty="0" smtClean="0"/>
              <a:t>设置函数指针</a:t>
            </a:r>
            <a:endParaRPr lang="en-US" altLang="zh-CN" dirty="0" smtClean="0"/>
          </a:p>
          <a:p>
            <a:r>
              <a:rPr lang="zh-CN" altLang="en-US" dirty="0" smtClean="0"/>
              <a:t>更新解析</a:t>
            </a:r>
            <a:endParaRPr lang="en-US" altLang="zh-CN" dirty="0" smtClean="0"/>
          </a:p>
          <a:p>
            <a:r>
              <a:rPr lang="zh-CN" altLang="en-US" dirty="0" smtClean="0"/>
              <a:t>注册指令</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676</TotalTime>
  <Words>1128</Words>
  <PresentationFormat>全屏显示(4:3)</PresentationFormat>
  <Paragraphs>186</Paragraphs>
  <Slides>12</Slides>
  <Notes>0</Notes>
  <HiddenSlides>0</HiddenSlides>
  <MMClips>0</MMClips>
  <ScaleCrop>false</ScaleCrop>
  <HeadingPairs>
    <vt:vector size="4" baseType="variant">
      <vt:variant>
        <vt:lpstr>主题</vt:lpstr>
      </vt:variant>
      <vt:variant>
        <vt:i4>1</vt:i4>
      </vt:variant>
      <vt:variant>
        <vt:lpstr>幻灯片标题</vt:lpstr>
      </vt:variant>
      <vt:variant>
        <vt:i4>12</vt:i4>
      </vt:variant>
    </vt:vector>
  </HeadingPairs>
  <TitlesOfParts>
    <vt:vector size="13" baseType="lpstr">
      <vt:lpstr>Office 主题</vt:lpstr>
      <vt:lpstr>Windows IOCP服务器  </vt:lpstr>
      <vt:lpstr>2、IO对象回收池 </vt:lpstr>
      <vt:lpstr>3、IOCP封装类</vt:lpstr>
      <vt:lpstr>4、初始化socket</vt:lpstr>
      <vt:lpstr>5、IOCP工作线程 </vt:lpstr>
      <vt:lpstr>6、投递Accept </vt:lpstr>
      <vt:lpstr>7、投递recv </vt:lpstr>
      <vt:lpstr>8、投递send </vt:lpstr>
      <vt:lpstr>9、封包-生产发送数据 </vt:lpstr>
      <vt:lpstr>10、解包-消费接收数据</vt:lpstr>
      <vt:lpstr>11、注册消息指令</vt:lpstr>
      <vt:lpstr>12、app管理器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Windows IOCP服务器  </dc:title>
  <dc:creator>admin</dc:creator>
  <cp:lastModifiedBy>admin</cp:lastModifiedBy>
  <cp:revision>114</cp:revision>
  <dcterms:created xsi:type="dcterms:W3CDTF">2020-04-12T10:44:39Z</dcterms:created>
  <dcterms:modified xsi:type="dcterms:W3CDTF">2020-04-14T15:48:28Z</dcterms:modified>
</cp:coreProperties>
</file>